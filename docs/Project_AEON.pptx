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34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931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9"/>
        </a:solidFill>
        <a:effectLst/>
      </p:bgPr>
    </p:bg>
    <p:spTree>
      <p:nvGrpSpPr>
        <p:cNvPr id="1" name=""/>
        <p:cNvGrpSpPr/>
        <p:nvPr/>
      </p:nvGrpSpPr>
      <p:grpSpPr>
        <a:xfrm>
          <a:off x="0" y="0"/>
          <a:ext cx="0" cy="0"/>
          <a:chOff x="0" y="0"/>
          <a:chExt cx="0" cy="0"/>
        </a:xfrm>
      </p:grpSpPr>
      <p:sp>
        <p:nvSpPr>
          <p:cNvPr id="2" name="Shape 0"/>
          <p:cNvSpPr/>
          <p:nvPr/>
        </p:nvSpPr>
        <p:spPr>
          <a:xfrm>
            <a:off x="731520" y="1417320"/>
            <a:ext cx="10728655" cy="0"/>
          </a:xfrm>
          <a:prstGeom prst="line">
            <a:avLst/>
          </a:prstGeom>
          <a:noFill/>
          <a:ln w="12700">
            <a:solidFill>
              <a:srgbClr val="D9D8D2"/>
            </a:solidFill>
            <a:prstDash val="solid"/>
          </a:ln>
        </p:spPr>
      </p:sp>
      <p:sp>
        <p:nvSpPr>
          <p:cNvPr id="3" name="Text 1"/>
          <p:cNvSpPr/>
          <p:nvPr/>
        </p:nvSpPr>
        <p:spPr>
          <a:xfrm>
            <a:off x="731520" y="1051560"/>
            <a:ext cx="10728655" cy="292608"/>
          </a:xfrm>
          <a:prstGeom prst="rect">
            <a:avLst/>
          </a:prstGeom>
          <a:noFill/>
          <a:ln/>
        </p:spPr>
        <p:txBody>
          <a:bodyPr wrap="square" rtlCol="0" anchor="ctr"/>
          <a:lstStyle/>
          <a:p>
            <a:pPr marL="0" indent="0" algn="l">
              <a:buNone/>
            </a:pPr>
            <a:r>
              <a:rPr lang="en-US" sz="1200" kern="0" spc="300" dirty="0">
                <a:solidFill>
                  <a:srgbClr val="B45309"/>
                </a:solidFill>
                <a:latin typeface="Courier New" pitchFamily="34" charset="0"/>
                <a:ea typeface="Courier New" pitchFamily="34" charset="-122"/>
                <a:cs typeface="Courier New" pitchFamily="34" charset="-120"/>
              </a:rPr>
              <a:t>AUTONOMOUS · ANTICIPATORY   ENGINEERING INTELLIGENCE</a:t>
            </a:r>
            <a:endParaRPr lang="en-US" sz="1200" dirty="0"/>
          </a:p>
        </p:txBody>
      </p:sp>
      <p:sp>
        <p:nvSpPr>
          <p:cNvPr id="4" name="Text 2"/>
          <p:cNvSpPr/>
          <p:nvPr/>
        </p:nvSpPr>
        <p:spPr>
          <a:xfrm>
            <a:off x="685800" y="1965960"/>
            <a:ext cx="10972800" cy="1371600"/>
          </a:xfrm>
          <a:prstGeom prst="rect">
            <a:avLst/>
          </a:prstGeom>
          <a:noFill/>
          <a:ln/>
        </p:spPr>
        <p:txBody>
          <a:bodyPr wrap="square" rtlCol="0" anchor="ctr"/>
          <a:lstStyle/>
          <a:p>
            <a:pPr marL="0" indent="0" algn="l">
              <a:buNone/>
            </a:pPr>
            <a:r>
              <a:rPr lang="en-US" sz="8600" b="1" dirty="0">
                <a:solidFill>
                  <a:srgbClr val="1A1C22"/>
                </a:solidFill>
                <a:latin typeface="Century Schoolbook" pitchFamily="34" charset="0"/>
                <a:ea typeface="Century Schoolbook" pitchFamily="34" charset="-122"/>
                <a:cs typeface="Century Schoolbook" pitchFamily="34" charset="-120"/>
              </a:rPr>
              <a:t>Project Aeon</a:t>
            </a:r>
            <a:endParaRPr lang="en-US" sz="8600" dirty="0"/>
          </a:p>
        </p:txBody>
      </p:sp>
      <p:sp>
        <p:nvSpPr>
          <p:cNvPr id="5" name="Text 3"/>
          <p:cNvSpPr/>
          <p:nvPr/>
        </p:nvSpPr>
        <p:spPr>
          <a:xfrm>
            <a:off x="731520" y="3337560"/>
            <a:ext cx="10972800" cy="640080"/>
          </a:xfrm>
          <a:prstGeom prst="rect">
            <a:avLst/>
          </a:prstGeom>
          <a:noFill/>
          <a:ln/>
        </p:spPr>
        <p:txBody>
          <a:bodyPr wrap="square" rtlCol="0" anchor="ctr"/>
          <a:lstStyle/>
          <a:p>
            <a:pPr marL="0" indent="0" algn="l">
              <a:buNone/>
            </a:pPr>
            <a:r>
              <a:rPr lang="en-US" sz="3100" dirty="0">
                <a:solidFill>
                  <a:srgbClr val="1A1C22"/>
                </a:solidFill>
                <a:latin typeface="Century Schoolbook" pitchFamily="34" charset="0"/>
                <a:ea typeface="Century Schoolbook" pitchFamily="34" charset="-122"/>
                <a:cs typeface="Century Schoolbook" pitchFamily="34" charset="-120"/>
              </a:rPr>
              <a:t>One architecture </a:t>
            </a:r>
            <a:r>
              <a:rPr lang="en-US" sz="3100" i="1" dirty="0">
                <a:solidFill>
                  <a:srgbClr val="B45309"/>
                </a:solidFill>
                <a:latin typeface="Century Schoolbook" pitchFamily="34" charset="0"/>
                <a:ea typeface="Century Schoolbook" pitchFamily="34" charset="-122"/>
                <a:cs typeface="Century Schoolbook" pitchFamily="34" charset="-120"/>
              </a:rPr>
              <a:t>for every domain.</a:t>
            </a:r>
            <a:endParaRPr lang="en-US" sz="3100" dirty="0"/>
          </a:p>
        </p:txBody>
      </p:sp>
      <p:sp>
        <p:nvSpPr>
          <p:cNvPr id="6" name="Text 4"/>
          <p:cNvSpPr/>
          <p:nvPr/>
        </p:nvSpPr>
        <p:spPr>
          <a:xfrm>
            <a:off x="731520" y="4114800"/>
            <a:ext cx="9601200" cy="365760"/>
          </a:xfrm>
          <a:prstGeom prst="rect">
            <a:avLst/>
          </a:prstGeom>
          <a:noFill/>
          <a:ln/>
        </p:spPr>
        <p:txBody>
          <a:bodyPr wrap="square" rtlCol="0" anchor="ctr"/>
          <a:lstStyle/>
          <a:p>
            <a:pPr marL="0" indent="0" algn="l">
              <a:buNone/>
            </a:pPr>
            <a:r>
              <a:rPr lang="en-US" sz="1450" dirty="0">
                <a:solidFill>
                  <a:srgbClr val="5B5E66"/>
                </a:solidFill>
                <a:latin typeface="Arial" pitchFamily="34" charset="0"/>
                <a:ea typeface="Arial" pitchFamily="34" charset="-122"/>
                <a:cs typeface="Arial" pitchFamily="34" charset="-120"/>
              </a:rPr>
              <a:t>The same LangGraph agent and vector-and-graph failure memory — pointed at two different worlds.</a:t>
            </a:r>
            <a:endParaRPr lang="en-US" sz="1450" dirty="0"/>
          </a:p>
        </p:txBody>
      </p:sp>
      <p:sp>
        <p:nvSpPr>
          <p:cNvPr id="7" name="Shape 5"/>
          <p:cNvSpPr/>
          <p:nvPr/>
        </p:nvSpPr>
        <p:spPr>
          <a:xfrm>
            <a:off x="731520" y="4892040"/>
            <a:ext cx="10728655" cy="0"/>
          </a:xfrm>
          <a:prstGeom prst="line">
            <a:avLst/>
          </a:prstGeom>
          <a:noFill/>
          <a:ln w="12700">
            <a:solidFill>
              <a:srgbClr val="D9D8D2"/>
            </a:solidFill>
            <a:prstDash val="solid"/>
          </a:ln>
        </p:spPr>
      </p:sp>
      <p:sp>
        <p:nvSpPr>
          <p:cNvPr id="8" name="Text 6"/>
          <p:cNvSpPr/>
          <p:nvPr/>
        </p:nvSpPr>
        <p:spPr>
          <a:xfrm>
            <a:off x="731520" y="5074920"/>
            <a:ext cx="2194560" cy="274320"/>
          </a:xfrm>
          <a:prstGeom prst="rect">
            <a:avLst/>
          </a:prstGeom>
          <a:noFill/>
          <a:ln/>
        </p:spPr>
        <p:txBody>
          <a:bodyPr wrap="square" rtlCol="0" anchor="ctr"/>
          <a:lstStyle/>
          <a:p>
            <a:pPr marL="0" indent="0">
              <a:buNone/>
            </a:pPr>
            <a:r>
              <a:rPr lang="en-US" sz="1100" kern="0" spc="200" dirty="0">
                <a:solidFill>
                  <a:srgbClr val="B45309"/>
                </a:solidFill>
                <a:latin typeface="Courier New" pitchFamily="34" charset="0"/>
                <a:ea typeface="Courier New" pitchFamily="34" charset="-122"/>
                <a:cs typeface="Courier New" pitchFamily="34" charset="-120"/>
              </a:rPr>
              <a:t>●  </a:t>
            </a:r>
            <a:r>
              <a:rPr lang="en-US" sz="1100" b="1" kern="0" spc="200" dirty="0">
                <a:solidFill>
                  <a:srgbClr val="B45309"/>
                </a:solidFill>
                <a:latin typeface="Courier New" pitchFamily="34" charset="0"/>
                <a:ea typeface="Courier New" pitchFamily="34" charset="-122"/>
                <a:cs typeface="Courier New" pitchFamily="34" charset="-120"/>
              </a:rPr>
              <a:t>DEVOPS</a:t>
            </a:r>
            <a:endParaRPr lang="en-US" sz="1100" dirty="0"/>
          </a:p>
        </p:txBody>
      </p:sp>
      <p:sp>
        <p:nvSpPr>
          <p:cNvPr id="9" name="Text 7"/>
          <p:cNvSpPr/>
          <p:nvPr/>
        </p:nvSpPr>
        <p:spPr>
          <a:xfrm>
            <a:off x="2926080" y="5056632"/>
            <a:ext cx="7772400" cy="310896"/>
          </a:xfrm>
          <a:prstGeom prst="rect">
            <a:avLst/>
          </a:prstGeom>
          <a:noFill/>
          <a:ln/>
        </p:spPr>
        <p:txBody>
          <a:bodyPr wrap="square" rtlCol="0" anchor="ctr"/>
          <a:lstStyle/>
          <a:p>
            <a:pPr marL="0" indent="0">
              <a:buNone/>
            </a:pPr>
            <a:r>
              <a:rPr lang="en-US" sz="1300" dirty="0">
                <a:solidFill>
                  <a:srgbClr val="3A3D45"/>
                </a:solidFill>
                <a:latin typeface="Arial" pitchFamily="34" charset="0"/>
                <a:ea typeface="Arial" pitchFamily="34" charset="-122"/>
                <a:cs typeface="Arial" pitchFamily="34" charset="-120"/>
              </a:rPr>
              <a:t>The DevOps AI that remembers</a:t>
            </a:r>
            <a:endParaRPr lang="en-US" sz="1300" dirty="0"/>
          </a:p>
        </p:txBody>
      </p:sp>
      <p:sp>
        <p:nvSpPr>
          <p:cNvPr id="10" name="Text 8"/>
          <p:cNvSpPr/>
          <p:nvPr/>
        </p:nvSpPr>
        <p:spPr>
          <a:xfrm>
            <a:off x="731520" y="5532120"/>
            <a:ext cx="2194560" cy="274320"/>
          </a:xfrm>
          <a:prstGeom prst="rect">
            <a:avLst/>
          </a:prstGeom>
          <a:noFill/>
          <a:ln/>
        </p:spPr>
        <p:txBody>
          <a:bodyPr wrap="square" rtlCol="0" anchor="ctr"/>
          <a:lstStyle/>
          <a:p>
            <a:pPr marL="0" indent="0">
              <a:buNone/>
            </a:pPr>
            <a:r>
              <a:rPr lang="en-US" sz="1100" kern="0" spc="200" dirty="0">
                <a:solidFill>
                  <a:srgbClr val="0F6E68"/>
                </a:solidFill>
                <a:latin typeface="Courier New" pitchFamily="34" charset="0"/>
                <a:ea typeface="Courier New" pitchFamily="34" charset="-122"/>
                <a:cs typeface="Courier New" pitchFamily="34" charset="-120"/>
              </a:rPr>
              <a:t>●  </a:t>
            </a:r>
            <a:r>
              <a:rPr lang="en-US" sz="1100" b="1" kern="0" spc="200" dirty="0">
                <a:solidFill>
                  <a:srgbClr val="0F6E68"/>
                </a:solidFill>
                <a:latin typeface="Courier New" pitchFamily="34" charset="0"/>
                <a:ea typeface="Courier New" pitchFamily="34" charset="-122"/>
                <a:cs typeface="Courier New" pitchFamily="34" charset="-120"/>
              </a:rPr>
              <a:t>AUTOMOTIVE</a:t>
            </a:r>
            <a:endParaRPr lang="en-US" sz="1100" dirty="0"/>
          </a:p>
        </p:txBody>
      </p:sp>
      <p:sp>
        <p:nvSpPr>
          <p:cNvPr id="11" name="Text 9"/>
          <p:cNvSpPr/>
          <p:nvPr/>
        </p:nvSpPr>
        <p:spPr>
          <a:xfrm>
            <a:off x="2926080" y="5513832"/>
            <a:ext cx="7772400" cy="310896"/>
          </a:xfrm>
          <a:prstGeom prst="rect">
            <a:avLst/>
          </a:prstGeom>
          <a:noFill/>
          <a:ln/>
        </p:spPr>
        <p:txBody>
          <a:bodyPr wrap="square" rtlCol="0" anchor="ctr"/>
          <a:lstStyle/>
          <a:p>
            <a:pPr marL="0" indent="0">
              <a:buNone/>
            </a:pPr>
            <a:r>
              <a:rPr lang="en-US" sz="1300" dirty="0">
                <a:solidFill>
                  <a:srgbClr val="3A3D45"/>
                </a:solidFill>
                <a:latin typeface="Arial" pitchFamily="34" charset="0"/>
                <a:ea typeface="Arial" pitchFamily="34" charset="-122"/>
                <a:cs typeface="Arial" pitchFamily="34" charset="-120"/>
              </a:rPr>
              <a:t>Predictive intelligence at the design stage</a:t>
            </a:r>
            <a:endParaRPr lang="en-US" sz="1300" dirty="0"/>
          </a:p>
        </p:txBody>
      </p:sp>
      <p:sp>
        <p:nvSpPr>
          <p:cNvPr id="12" name="Text 10"/>
          <p:cNvSpPr/>
          <p:nvPr/>
        </p:nvSpPr>
        <p:spPr>
          <a:xfrm>
            <a:off x="731520" y="6263640"/>
            <a:ext cx="10728655" cy="274320"/>
          </a:xfrm>
          <a:prstGeom prst="rect">
            <a:avLst/>
          </a:prstGeom>
          <a:noFill/>
          <a:ln/>
        </p:spPr>
        <p:txBody>
          <a:bodyPr wrap="square" rtlCol="0" anchor="ctr"/>
          <a:lstStyle/>
          <a:p>
            <a:pPr marL="0" indent="0" algn="l">
              <a:buNone/>
            </a:pPr>
            <a:r>
              <a:rPr lang="en-US" sz="1000" kern="0" spc="100" dirty="0">
                <a:solidFill>
                  <a:srgbClr val="9A9CA1"/>
                </a:solidFill>
                <a:latin typeface="Courier New" pitchFamily="34" charset="0"/>
                <a:ea typeface="Courier New" pitchFamily="34" charset="-122"/>
                <a:cs typeface="Courier New" pitchFamily="34" charset="-120"/>
              </a:rPr>
              <a:t>Failure memory as the moat  ·  never make the same mistake twice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01</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01</a:t>
            </a:r>
            <a:r>
              <a:rPr lang="en-US" sz="1150" b="1" kern="0" spc="200" dirty="0">
                <a:solidFill>
                  <a:srgbClr val="3A3D45"/>
                </a:solidFill>
                <a:latin typeface="Courier New" pitchFamily="34" charset="0"/>
                <a:ea typeface="Courier New" pitchFamily="34" charset="-122"/>
                <a:cs typeface="Courier New" pitchFamily="34" charset="-120"/>
              </a:rPr>
              <a:t>  —  PROBLEM DEFINITION</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01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The knowledge to prevent the next failure</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already exists.</a:t>
            </a:r>
            <a:endParaRPr lang="en-US" sz="3300" dirty="0"/>
          </a:p>
        </p:txBody>
      </p:sp>
      <p:sp>
        <p:nvSpPr>
          <p:cNvPr id="9" name="Text 7"/>
          <p:cNvSpPr/>
          <p:nvPr/>
        </p:nvSpPr>
        <p:spPr>
          <a:xfrm>
            <a:off x="731520" y="2286000"/>
            <a:ext cx="10058400" cy="365760"/>
          </a:xfrm>
          <a:prstGeom prst="rect">
            <a:avLst/>
          </a:prstGeom>
          <a:noFill/>
          <a:ln/>
        </p:spPr>
        <p:txBody>
          <a:bodyPr wrap="square" rtlCol="0" anchor="ctr"/>
          <a:lstStyle/>
          <a:p>
            <a:pPr marL="0" indent="0">
              <a:buNone/>
            </a:pPr>
            <a:r>
              <a:rPr lang="en-US" sz="1700" i="1" dirty="0">
                <a:solidFill>
                  <a:srgbClr val="5B5E66"/>
                </a:solidFill>
                <a:latin typeface="Century Schoolbook" pitchFamily="34" charset="0"/>
                <a:ea typeface="Century Schoolbook" pitchFamily="34" charset="-122"/>
                <a:cs typeface="Century Schoolbook" pitchFamily="34" charset="-120"/>
              </a:rPr>
              <a:t>It is simply trapped where no engineer can search it in time.</a:t>
            </a:r>
            <a:endParaRPr lang="en-US" sz="1700" dirty="0"/>
          </a:p>
        </p:txBody>
      </p:sp>
      <p:sp>
        <p:nvSpPr>
          <p:cNvPr id="10" name="Shape 8"/>
          <p:cNvSpPr/>
          <p:nvPr/>
        </p:nvSpPr>
        <p:spPr>
          <a:xfrm>
            <a:off x="6095848" y="2971800"/>
            <a:ext cx="0" cy="2514600"/>
          </a:xfrm>
          <a:prstGeom prst="line">
            <a:avLst/>
          </a:prstGeom>
          <a:noFill/>
          <a:ln w="12700">
            <a:solidFill>
              <a:srgbClr val="D9D8D2"/>
            </a:solidFill>
            <a:prstDash val="solid"/>
          </a:ln>
        </p:spPr>
      </p:sp>
      <p:sp>
        <p:nvSpPr>
          <p:cNvPr id="11" name="Text 9"/>
          <p:cNvSpPr/>
          <p:nvPr/>
        </p:nvSpPr>
        <p:spPr>
          <a:xfrm>
            <a:off x="731520" y="2971800"/>
            <a:ext cx="2743200" cy="274320"/>
          </a:xfrm>
          <a:prstGeom prst="rect">
            <a:avLst/>
          </a:prstGeom>
          <a:noFill/>
          <a:ln/>
        </p:spPr>
        <p:txBody>
          <a:bodyPr wrap="square" rtlCol="0" anchor="ctr"/>
          <a:lstStyle/>
          <a:p>
            <a:pPr marL="0" indent="0" algn="l">
              <a:buNone/>
            </a:pPr>
            <a:r>
              <a:rPr lang="en-US" sz="1050" kern="0" spc="200" dirty="0">
                <a:solidFill>
                  <a:srgbClr val="B45309"/>
                </a:solidFill>
                <a:latin typeface="Courier New" pitchFamily="34" charset="0"/>
                <a:ea typeface="Courier New" pitchFamily="34" charset="-122"/>
                <a:cs typeface="Courier New" pitchFamily="34" charset="-120"/>
              </a:rPr>
              <a:t>●  </a:t>
            </a:r>
            <a:r>
              <a:rPr lang="en-US" sz="1050" b="1" kern="0" spc="200" dirty="0">
                <a:solidFill>
                  <a:srgbClr val="B45309"/>
                </a:solidFill>
                <a:latin typeface="Courier New" pitchFamily="34" charset="0"/>
                <a:ea typeface="Courier New" pitchFamily="34" charset="-122"/>
                <a:cs typeface="Courier New" pitchFamily="34" charset="-120"/>
              </a:rPr>
              <a:t>DEVOPS</a:t>
            </a:r>
            <a:endParaRPr lang="en-US" sz="1050" dirty="0"/>
          </a:p>
        </p:txBody>
      </p:sp>
      <p:sp>
        <p:nvSpPr>
          <p:cNvPr id="12" name="Text 10"/>
          <p:cNvSpPr/>
          <p:nvPr/>
        </p:nvSpPr>
        <p:spPr>
          <a:xfrm>
            <a:off x="731520" y="3264408"/>
            <a:ext cx="4952848" cy="365760"/>
          </a:xfrm>
          <a:prstGeom prst="rect">
            <a:avLst/>
          </a:prstGeom>
          <a:noFill/>
          <a:ln/>
        </p:spPr>
        <p:txBody>
          <a:bodyPr wrap="square" rtlCol="0" anchor="ctr"/>
          <a:lstStyle/>
          <a:p>
            <a:pPr marL="0" indent="0">
              <a:buNone/>
            </a:pPr>
            <a:r>
              <a:rPr lang="en-US" sz="1900" b="1" dirty="0">
                <a:solidFill>
                  <a:srgbClr val="1A1C22"/>
                </a:solidFill>
                <a:latin typeface="Century Schoolbook" pitchFamily="34" charset="0"/>
                <a:ea typeface="Century Schoolbook" pitchFamily="34" charset="-122"/>
                <a:cs typeface="Century Schoolbook" pitchFamily="34" charset="-120"/>
              </a:rPr>
              <a:t>Repeat CI/CD failures</a:t>
            </a:r>
            <a:endParaRPr lang="en-US" sz="1900" dirty="0"/>
          </a:p>
        </p:txBody>
      </p:sp>
      <p:sp>
        <p:nvSpPr>
          <p:cNvPr id="13" name="Text 11"/>
          <p:cNvSpPr/>
          <p:nvPr/>
        </p:nvSpPr>
        <p:spPr>
          <a:xfrm>
            <a:off x="731520" y="3721608"/>
            <a:ext cx="4861408" cy="1691640"/>
          </a:xfrm>
          <a:prstGeom prst="rect">
            <a:avLst/>
          </a:prstGeom>
          <a:noFill/>
          <a:ln/>
        </p:spPr>
        <p:txBody>
          <a:bodyPr wrap="square" rtlCol="0" anchor="t"/>
          <a:lstStyle/>
          <a:p>
            <a:pPr marL="0" indent="0" algn="l">
              <a:lnSpc>
                <a:spcPct val="122000"/>
              </a:lnSpc>
              <a:buNone/>
            </a:pPr>
            <a:r>
              <a:rPr lang="en-US" sz="1300" dirty="0">
                <a:solidFill>
                  <a:srgbClr val="3A3D45"/>
                </a:solidFill>
                <a:latin typeface="Arial" pitchFamily="34" charset="0"/>
                <a:ea typeface="Arial" pitchFamily="34" charset="-122"/>
                <a:cs typeface="Arial" pitchFamily="34" charset="-120"/>
              </a:rPr>
              <a:t>Build breaks → on-call digs logs → finds the cause → fixes it → the knowledge evaporates. Weeks later a teammate hits the identical failure and starts from zero. Existing LLM tools summarize a single log — no memory, so every incident is treated as brand new.</a:t>
            </a:r>
            <a:endParaRPr lang="en-US" sz="1300" dirty="0"/>
          </a:p>
        </p:txBody>
      </p:sp>
      <p:sp>
        <p:nvSpPr>
          <p:cNvPr id="14" name="Text 12"/>
          <p:cNvSpPr/>
          <p:nvPr/>
        </p:nvSpPr>
        <p:spPr>
          <a:xfrm>
            <a:off x="6507328" y="2971800"/>
            <a:ext cx="2743200" cy="274320"/>
          </a:xfrm>
          <a:prstGeom prst="rect">
            <a:avLst/>
          </a:prstGeom>
          <a:noFill/>
          <a:ln/>
        </p:spPr>
        <p:txBody>
          <a:bodyPr wrap="square" rtlCol="0" anchor="ctr"/>
          <a:lstStyle/>
          <a:p>
            <a:pPr marL="0" indent="0" algn="l">
              <a:buNone/>
            </a:pPr>
            <a:r>
              <a:rPr lang="en-US" sz="1050" kern="0" spc="200" dirty="0">
                <a:solidFill>
                  <a:srgbClr val="0F6E68"/>
                </a:solidFill>
                <a:latin typeface="Courier New" pitchFamily="34" charset="0"/>
                <a:ea typeface="Courier New" pitchFamily="34" charset="-122"/>
                <a:cs typeface="Courier New" pitchFamily="34" charset="-120"/>
              </a:rPr>
              <a:t>●  </a:t>
            </a:r>
            <a:r>
              <a:rPr lang="en-US" sz="1050" b="1" kern="0" spc="200" dirty="0">
                <a:solidFill>
                  <a:srgbClr val="0F6E68"/>
                </a:solidFill>
                <a:latin typeface="Courier New" pitchFamily="34" charset="0"/>
                <a:ea typeface="Courier New" pitchFamily="34" charset="-122"/>
                <a:cs typeface="Courier New" pitchFamily="34" charset="-120"/>
              </a:rPr>
              <a:t>AUTOMOTIVE</a:t>
            </a:r>
            <a:endParaRPr lang="en-US" sz="1050" dirty="0"/>
          </a:p>
        </p:txBody>
      </p:sp>
      <p:sp>
        <p:nvSpPr>
          <p:cNvPr id="15" name="Text 13"/>
          <p:cNvSpPr/>
          <p:nvPr/>
        </p:nvSpPr>
        <p:spPr>
          <a:xfrm>
            <a:off x="6507328" y="3264408"/>
            <a:ext cx="4952848" cy="365760"/>
          </a:xfrm>
          <a:prstGeom prst="rect">
            <a:avLst/>
          </a:prstGeom>
          <a:noFill/>
          <a:ln/>
        </p:spPr>
        <p:txBody>
          <a:bodyPr wrap="square" rtlCol="0" anchor="ctr"/>
          <a:lstStyle/>
          <a:p>
            <a:pPr marL="0" indent="0">
              <a:buNone/>
            </a:pPr>
            <a:r>
              <a:rPr lang="en-US" sz="1900" b="1" dirty="0">
                <a:solidFill>
                  <a:srgbClr val="1A1C22"/>
                </a:solidFill>
                <a:latin typeface="Century Schoolbook" pitchFamily="34" charset="0"/>
                <a:ea typeface="Century Schoolbook" pitchFamily="34" charset="-122"/>
                <a:cs typeface="Century Schoolbook" pitchFamily="34" charset="-120"/>
              </a:rPr>
              <a:t>Failures surface too late</a:t>
            </a:r>
            <a:endParaRPr lang="en-US" sz="1900" dirty="0"/>
          </a:p>
        </p:txBody>
      </p:sp>
      <p:sp>
        <p:nvSpPr>
          <p:cNvPr id="16" name="Text 14"/>
          <p:cNvSpPr/>
          <p:nvPr/>
        </p:nvSpPr>
        <p:spPr>
          <a:xfrm>
            <a:off x="6507328" y="3721608"/>
            <a:ext cx="4861408" cy="1691640"/>
          </a:xfrm>
          <a:prstGeom prst="rect">
            <a:avLst/>
          </a:prstGeom>
          <a:noFill/>
          <a:ln/>
        </p:spPr>
        <p:txBody>
          <a:bodyPr wrap="square" rtlCol="0" anchor="t"/>
          <a:lstStyle/>
          <a:p>
            <a:pPr marL="0" indent="0" algn="l">
              <a:lnSpc>
                <a:spcPct val="122000"/>
              </a:lnSpc>
              <a:buNone/>
            </a:pPr>
            <a:r>
              <a:rPr lang="en-US" sz="1300" dirty="0">
                <a:solidFill>
                  <a:srgbClr val="3A3D45"/>
                </a:solidFill>
                <a:latin typeface="Arial" pitchFamily="34" charset="0"/>
                <a:ea typeface="Arial" pitchFamily="34" charset="-122"/>
                <a:cs typeface="Arial" pitchFamily="34" charset="-120"/>
              </a:rPr>
              <a:t>Risks appear in test, production, or the field as warranty claims. Historical failure, warranty RCA and simulation data go unused at design time. The evidence to prevent them is already there — trapped in PDFs, warranty tables and tribal memory no one can query.</a:t>
            </a:r>
            <a:endParaRPr lang="en-US" sz="1300" dirty="0"/>
          </a:p>
        </p:txBody>
      </p:sp>
      <p:sp>
        <p:nvSpPr>
          <p:cNvPr id="17" name="Shape 15"/>
          <p:cNvSpPr/>
          <p:nvPr/>
        </p:nvSpPr>
        <p:spPr>
          <a:xfrm>
            <a:off x="731520" y="5715000"/>
            <a:ext cx="10728655" cy="0"/>
          </a:xfrm>
          <a:prstGeom prst="line">
            <a:avLst/>
          </a:prstGeom>
          <a:noFill/>
          <a:ln w="12700">
            <a:solidFill>
              <a:srgbClr val="D9D8D2"/>
            </a:solidFill>
            <a:prstDash val="solid"/>
          </a:ln>
        </p:spPr>
      </p:sp>
      <p:sp>
        <p:nvSpPr>
          <p:cNvPr id="18" name="Text 16"/>
          <p:cNvSpPr/>
          <p:nvPr/>
        </p:nvSpPr>
        <p:spPr>
          <a:xfrm>
            <a:off x="731520" y="5852160"/>
            <a:ext cx="10728655" cy="365760"/>
          </a:xfrm>
          <a:prstGeom prst="rect">
            <a:avLst/>
          </a:prstGeom>
          <a:noFill/>
          <a:ln/>
        </p:spPr>
        <p:txBody>
          <a:bodyPr wrap="square" rtlCol="0" anchor="ctr"/>
          <a:lstStyle/>
          <a:p>
            <a:pPr marL="0" indent="0" algn="l">
              <a:buNone/>
            </a:pPr>
            <a:r>
              <a:rPr lang="en-US" sz="1600" i="1" dirty="0">
                <a:solidFill>
                  <a:srgbClr val="1A1C22"/>
                </a:solidFill>
                <a:latin typeface="Century Schoolbook" pitchFamily="34" charset="0"/>
                <a:ea typeface="Century Schoolbook" pitchFamily="34" charset="-122"/>
                <a:cs typeface="Century Schoolbook" pitchFamily="34" charset="-120"/>
              </a:rPr>
              <a:t>Same disease, two industries — organisations pay twice for failures they already know how to prevent.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02</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02</a:t>
            </a:r>
            <a:r>
              <a:rPr lang="en-US" sz="1150" b="1" kern="0" spc="200" dirty="0">
                <a:solidFill>
                  <a:srgbClr val="3A3D45"/>
                </a:solidFill>
                <a:latin typeface="Courier New" pitchFamily="34" charset="0"/>
                <a:ea typeface="Courier New" pitchFamily="34" charset="-122"/>
                <a:cs typeface="Courier New" pitchFamily="34" charset="-120"/>
              </a:rPr>
              <a:t>  —  SOLUTION ARCHITECTURE</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02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A persistent memory layer —</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not another log summarizer.</a:t>
            </a:r>
            <a:endParaRPr lang="en-US" sz="3300" dirty="0"/>
          </a:p>
        </p:txBody>
      </p:sp>
      <p:sp>
        <p:nvSpPr>
          <p:cNvPr id="9" name="Text 7"/>
          <p:cNvSpPr/>
          <p:nvPr/>
        </p:nvSpPr>
        <p:spPr>
          <a:xfrm>
            <a:off x="731520" y="2331720"/>
            <a:ext cx="3271418" cy="365760"/>
          </a:xfrm>
          <a:prstGeom prst="rect">
            <a:avLst/>
          </a:prstGeom>
          <a:noFill/>
          <a:ln/>
        </p:spPr>
        <p:txBody>
          <a:bodyPr wrap="square" rtlCol="0" anchor="ctr"/>
          <a:lstStyle/>
          <a:p>
            <a:pPr marL="0" indent="0">
              <a:buNone/>
            </a:pPr>
            <a:r>
              <a:rPr lang="en-US" sz="2200" b="1" i="1" dirty="0">
                <a:solidFill>
                  <a:srgbClr val="B45309"/>
                </a:solidFill>
                <a:latin typeface="Century Schoolbook" pitchFamily="34" charset="0"/>
                <a:ea typeface="Century Schoolbook" pitchFamily="34" charset="-122"/>
                <a:cs typeface="Century Schoolbook" pitchFamily="34" charset="-120"/>
              </a:rPr>
              <a:t>remembers</a:t>
            </a:r>
            <a:endParaRPr lang="en-US" sz="2200" dirty="0"/>
          </a:p>
        </p:txBody>
      </p:sp>
      <p:sp>
        <p:nvSpPr>
          <p:cNvPr id="10" name="Text 8"/>
          <p:cNvSpPr/>
          <p:nvPr/>
        </p:nvSpPr>
        <p:spPr>
          <a:xfrm>
            <a:off x="731520" y="2761488"/>
            <a:ext cx="3088538" cy="640080"/>
          </a:xfrm>
          <a:prstGeom prst="rect">
            <a:avLst/>
          </a:prstGeom>
          <a:noFill/>
          <a:ln/>
        </p:spPr>
        <p:txBody>
          <a:bodyPr wrap="square" rtlCol="0" anchor="t"/>
          <a:lstStyle/>
          <a:p>
            <a:pPr marL="0" indent="0">
              <a:lnSpc>
                <a:spcPct val="115000"/>
              </a:lnSpc>
              <a:buNone/>
            </a:pPr>
            <a:r>
              <a:rPr lang="en-US" sz="1200" dirty="0">
                <a:solidFill>
                  <a:srgbClr val="5B5E66"/>
                </a:solidFill>
                <a:latin typeface="Arial" pitchFamily="34" charset="0"/>
                <a:ea typeface="Arial" pitchFamily="34" charset="-122"/>
                <a:cs typeface="Arial" pitchFamily="34" charset="-120"/>
              </a:rPr>
              <a:t>every diagnosis written back into searchable memory</a:t>
            </a:r>
            <a:endParaRPr lang="en-US" sz="1200" dirty="0"/>
          </a:p>
        </p:txBody>
      </p:sp>
      <p:sp>
        <p:nvSpPr>
          <p:cNvPr id="11" name="Text 9"/>
          <p:cNvSpPr/>
          <p:nvPr/>
        </p:nvSpPr>
        <p:spPr>
          <a:xfrm>
            <a:off x="4460138" y="2331720"/>
            <a:ext cx="3271418" cy="365760"/>
          </a:xfrm>
          <a:prstGeom prst="rect">
            <a:avLst/>
          </a:prstGeom>
          <a:noFill/>
          <a:ln/>
        </p:spPr>
        <p:txBody>
          <a:bodyPr wrap="square" rtlCol="0" anchor="ctr"/>
          <a:lstStyle/>
          <a:p>
            <a:pPr marL="0" indent="0">
              <a:buNone/>
            </a:pPr>
            <a:r>
              <a:rPr lang="en-US" sz="2200" b="1" i="1" dirty="0">
                <a:solidFill>
                  <a:srgbClr val="0F6E68"/>
                </a:solidFill>
                <a:latin typeface="Century Schoolbook" pitchFamily="34" charset="0"/>
                <a:ea typeface="Century Schoolbook" pitchFamily="34" charset="-122"/>
                <a:cs typeface="Century Schoolbook" pitchFamily="34" charset="-120"/>
              </a:rPr>
              <a:t>cites</a:t>
            </a:r>
            <a:endParaRPr lang="en-US" sz="2200" dirty="0"/>
          </a:p>
        </p:txBody>
      </p:sp>
      <p:sp>
        <p:nvSpPr>
          <p:cNvPr id="12" name="Text 10"/>
          <p:cNvSpPr/>
          <p:nvPr/>
        </p:nvSpPr>
        <p:spPr>
          <a:xfrm>
            <a:off x="4460138" y="2761488"/>
            <a:ext cx="3088538" cy="640080"/>
          </a:xfrm>
          <a:prstGeom prst="rect">
            <a:avLst/>
          </a:prstGeom>
          <a:noFill/>
          <a:ln/>
        </p:spPr>
        <p:txBody>
          <a:bodyPr wrap="square" rtlCol="0" anchor="t"/>
          <a:lstStyle/>
          <a:p>
            <a:pPr marL="0" indent="0">
              <a:lnSpc>
                <a:spcPct val="115000"/>
              </a:lnSpc>
              <a:buNone/>
            </a:pPr>
            <a:r>
              <a:rPr lang="en-US" sz="1200" dirty="0">
                <a:solidFill>
                  <a:srgbClr val="5B5E66"/>
                </a:solidFill>
                <a:latin typeface="Arial" pitchFamily="34" charset="0"/>
                <a:ea typeface="Arial" pitchFamily="34" charset="-122"/>
                <a:cs typeface="Arial" pitchFamily="34" charset="-120"/>
              </a:rPr>
              <a:t>every claim traceable to a past record or incident ID</a:t>
            </a:r>
            <a:endParaRPr lang="en-US" sz="1200" dirty="0"/>
          </a:p>
        </p:txBody>
      </p:sp>
      <p:sp>
        <p:nvSpPr>
          <p:cNvPr id="13" name="Text 11"/>
          <p:cNvSpPr/>
          <p:nvPr/>
        </p:nvSpPr>
        <p:spPr>
          <a:xfrm>
            <a:off x="8188757" y="2331720"/>
            <a:ext cx="3271418" cy="365760"/>
          </a:xfrm>
          <a:prstGeom prst="rect">
            <a:avLst/>
          </a:prstGeom>
          <a:noFill/>
          <a:ln/>
        </p:spPr>
        <p:txBody>
          <a:bodyPr wrap="square" rtlCol="0" anchor="ctr"/>
          <a:lstStyle/>
          <a:p>
            <a:pPr marL="0" indent="0">
              <a:buNone/>
            </a:pPr>
            <a:r>
              <a:rPr lang="en-US" sz="2200" b="1" i="1" dirty="0">
                <a:solidFill>
                  <a:srgbClr val="B45309"/>
                </a:solidFill>
                <a:latin typeface="Century Schoolbook" pitchFamily="34" charset="0"/>
                <a:ea typeface="Century Schoolbook" pitchFamily="34" charset="-122"/>
                <a:cs typeface="Century Schoolbook" pitchFamily="34" charset="-120"/>
              </a:rPr>
              <a:t>quantifies</a:t>
            </a:r>
            <a:endParaRPr lang="en-US" sz="2200" dirty="0"/>
          </a:p>
        </p:txBody>
      </p:sp>
      <p:sp>
        <p:nvSpPr>
          <p:cNvPr id="14" name="Text 12"/>
          <p:cNvSpPr/>
          <p:nvPr/>
        </p:nvSpPr>
        <p:spPr>
          <a:xfrm>
            <a:off x="8188757" y="2761488"/>
            <a:ext cx="3088538" cy="640080"/>
          </a:xfrm>
          <a:prstGeom prst="rect">
            <a:avLst/>
          </a:prstGeom>
          <a:noFill/>
          <a:ln/>
        </p:spPr>
        <p:txBody>
          <a:bodyPr wrap="square" rtlCol="0" anchor="t"/>
          <a:lstStyle/>
          <a:p>
            <a:pPr marL="0" indent="0">
              <a:lnSpc>
                <a:spcPct val="115000"/>
              </a:lnSpc>
              <a:buNone/>
            </a:pPr>
            <a:r>
              <a:rPr lang="en-US" sz="1200" dirty="0">
                <a:solidFill>
                  <a:srgbClr val="5B5E66"/>
                </a:solidFill>
                <a:latin typeface="Arial" pitchFamily="34" charset="0"/>
                <a:ea typeface="Arial" pitchFamily="34" charset="-122"/>
                <a:cs typeface="Arial" pitchFamily="34" charset="-120"/>
              </a:rPr>
              <a:t>risk scores, similarity %, and capped confidence</a:t>
            </a:r>
            <a:endParaRPr lang="en-US" sz="1200" dirty="0"/>
          </a:p>
        </p:txBody>
      </p:sp>
      <p:sp>
        <p:nvSpPr>
          <p:cNvPr id="15" name="Shape 13"/>
          <p:cNvSpPr/>
          <p:nvPr/>
        </p:nvSpPr>
        <p:spPr>
          <a:xfrm>
            <a:off x="731520" y="3703320"/>
            <a:ext cx="1956816" cy="914400"/>
          </a:xfrm>
          <a:prstGeom prst="rect">
            <a:avLst/>
          </a:prstGeom>
          <a:solidFill>
            <a:srgbClr val="FFFFFF"/>
          </a:solidFill>
          <a:ln w="12700">
            <a:solidFill>
              <a:srgbClr val="D9D8D2"/>
            </a:solidFill>
            <a:prstDash val="solid"/>
          </a:ln>
        </p:spPr>
      </p:sp>
      <p:sp>
        <p:nvSpPr>
          <p:cNvPr id="16" name="Text 14"/>
          <p:cNvSpPr/>
          <p:nvPr/>
        </p:nvSpPr>
        <p:spPr>
          <a:xfrm>
            <a:off x="804672" y="3849624"/>
            <a:ext cx="1810512" cy="292608"/>
          </a:xfrm>
          <a:prstGeom prst="rect">
            <a:avLst/>
          </a:prstGeom>
          <a:noFill/>
          <a:ln/>
        </p:spPr>
        <p:txBody>
          <a:bodyPr wrap="square" rtlCol="0" anchor="ctr"/>
          <a:lstStyle/>
          <a:p>
            <a:pPr marL="0" indent="0" algn="ctr">
              <a:buNone/>
            </a:pPr>
            <a:r>
              <a:rPr lang="en-US" sz="1250" b="1" dirty="0">
                <a:solidFill>
                  <a:srgbClr val="1A1C22"/>
                </a:solidFill>
                <a:latin typeface="Arial" pitchFamily="34" charset="0"/>
                <a:ea typeface="Arial" pitchFamily="34" charset="-122"/>
                <a:cs typeface="Arial" pitchFamily="34" charset="-120"/>
              </a:rPr>
              <a:t>Query / Event</a:t>
            </a:r>
            <a:endParaRPr lang="en-US" sz="1250" dirty="0"/>
          </a:p>
        </p:txBody>
      </p:sp>
      <p:sp>
        <p:nvSpPr>
          <p:cNvPr id="17" name="Text 15"/>
          <p:cNvSpPr/>
          <p:nvPr/>
        </p:nvSpPr>
        <p:spPr>
          <a:xfrm>
            <a:off x="786384" y="4160520"/>
            <a:ext cx="1847088" cy="384048"/>
          </a:xfrm>
          <a:prstGeom prst="rect">
            <a:avLst/>
          </a:prstGeom>
          <a:noFill/>
          <a:ln/>
        </p:spPr>
        <p:txBody>
          <a:bodyPr wrap="square" rtlCol="0" anchor="ctr"/>
          <a:lstStyle/>
          <a:p>
            <a:pPr marL="0" indent="0" algn="ctr">
              <a:buNone/>
            </a:pPr>
            <a:r>
              <a:rPr lang="en-US" sz="850" dirty="0">
                <a:solidFill>
                  <a:srgbClr val="5B5E66"/>
                </a:solidFill>
                <a:latin typeface="Courier New" pitchFamily="34" charset="0"/>
                <a:ea typeface="Courier New" pitchFamily="34" charset="-122"/>
                <a:cs typeface="Courier New" pitchFamily="34" charset="-120"/>
              </a:rPr>
              <a:t>design change · build fail</a:t>
            </a:r>
            <a:endParaRPr lang="en-US" sz="850" dirty="0"/>
          </a:p>
        </p:txBody>
      </p:sp>
      <p:sp>
        <p:nvSpPr>
          <p:cNvPr id="18" name="Text 16"/>
          <p:cNvSpPr/>
          <p:nvPr/>
        </p:nvSpPr>
        <p:spPr>
          <a:xfrm>
            <a:off x="2688336" y="3703320"/>
            <a:ext cx="219456" cy="914400"/>
          </a:xfrm>
          <a:prstGeom prst="rect">
            <a:avLst/>
          </a:prstGeom>
          <a:noFill/>
          <a:ln/>
        </p:spPr>
        <p:txBody>
          <a:bodyPr wrap="square" rtlCol="0" anchor="ctr"/>
          <a:lstStyle/>
          <a:p>
            <a:pPr marL="0" indent="0" algn="ctr">
              <a:buNone/>
            </a:pPr>
            <a:r>
              <a:rPr lang="en-US" sz="1500" dirty="0">
                <a:solidFill>
                  <a:srgbClr val="9A9CA1"/>
                </a:solidFill>
                <a:latin typeface="Arial" pitchFamily="34" charset="0"/>
                <a:ea typeface="Arial" pitchFamily="34" charset="-122"/>
                <a:cs typeface="Arial" pitchFamily="34" charset="-120"/>
              </a:rPr>
              <a:t>→</a:t>
            </a:r>
            <a:endParaRPr lang="en-US" sz="1500" dirty="0"/>
          </a:p>
        </p:txBody>
      </p:sp>
      <p:sp>
        <p:nvSpPr>
          <p:cNvPr id="19" name="Shape 17"/>
          <p:cNvSpPr/>
          <p:nvPr/>
        </p:nvSpPr>
        <p:spPr>
          <a:xfrm>
            <a:off x="2907792" y="3703320"/>
            <a:ext cx="1956816" cy="914400"/>
          </a:xfrm>
          <a:prstGeom prst="rect">
            <a:avLst/>
          </a:prstGeom>
          <a:solidFill>
            <a:srgbClr val="FFFFFF"/>
          </a:solidFill>
          <a:ln w="17780">
            <a:solidFill>
              <a:srgbClr val="0F6E68"/>
            </a:solidFill>
            <a:prstDash val="solid"/>
          </a:ln>
        </p:spPr>
      </p:sp>
      <p:sp>
        <p:nvSpPr>
          <p:cNvPr id="20" name="Text 18"/>
          <p:cNvSpPr/>
          <p:nvPr/>
        </p:nvSpPr>
        <p:spPr>
          <a:xfrm>
            <a:off x="2980944" y="3849624"/>
            <a:ext cx="1810512" cy="292608"/>
          </a:xfrm>
          <a:prstGeom prst="rect">
            <a:avLst/>
          </a:prstGeom>
          <a:noFill/>
          <a:ln/>
        </p:spPr>
        <p:txBody>
          <a:bodyPr wrap="square" rtlCol="0" anchor="ctr"/>
          <a:lstStyle/>
          <a:p>
            <a:pPr marL="0" indent="0" algn="ctr">
              <a:buNone/>
            </a:pPr>
            <a:r>
              <a:rPr lang="en-US" sz="1250" b="1" dirty="0">
                <a:solidFill>
                  <a:srgbClr val="1A1C22"/>
                </a:solidFill>
                <a:latin typeface="Arial" pitchFamily="34" charset="0"/>
                <a:ea typeface="Arial" pitchFamily="34" charset="-122"/>
                <a:cs typeface="Arial" pitchFamily="34" charset="-120"/>
              </a:rPr>
              <a:t>Search Memory</a:t>
            </a:r>
            <a:endParaRPr lang="en-US" sz="1250" dirty="0"/>
          </a:p>
        </p:txBody>
      </p:sp>
      <p:sp>
        <p:nvSpPr>
          <p:cNvPr id="21" name="Text 19"/>
          <p:cNvSpPr/>
          <p:nvPr/>
        </p:nvSpPr>
        <p:spPr>
          <a:xfrm>
            <a:off x="2962656" y="4160520"/>
            <a:ext cx="1847088" cy="384048"/>
          </a:xfrm>
          <a:prstGeom prst="rect">
            <a:avLst/>
          </a:prstGeom>
          <a:noFill/>
          <a:ln/>
        </p:spPr>
        <p:txBody>
          <a:bodyPr wrap="square" rtlCol="0" anchor="ctr"/>
          <a:lstStyle/>
          <a:p>
            <a:pPr marL="0" indent="0" algn="ctr">
              <a:buNone/>
            </a:pPr>
            <a:r>
              <a:rPr lang="en-US" sz="850" dirty="0">
                <a:solidFill>
                  <a:srgbClr val="5B5E66"/>
                </a:solidFill>
                <a:latin typeface="Courier New" pitchFamily="34" charset="0"/>
                <a:ea typeface="Courier New" pitchFamily="34" charset="-122"/>
                <a:cs typeface="Courier New" pitchFamily="34" charset="-120"/>
              </a:rPr>
              <a:t>Chroma vector · Neo4j graph</a:t>
            </a:r>
            <a:endParaRPr lang="en-US" sz="850" dirty="0"/>
          </a:p>
        </p:txBody>
      </p:sp>
      <p:sp>
        <p:nvSpPr>
          <p:cNvPr id="22" name="Text 20"/>
          <p:cNvSpPr/>
          <p:nvPr/>
        </p:nvSpPr>
        <p:spPr>
          <a:xfrm>
            <a:off x="4864608" y="3703320"/>
            <a:ext cx="219456" cy="914400"/>
          </a:xfrm>
          <a:prstGeom prst="rect">
            <a:avLst/>
          </a:prstGeom>
          <a:noFill/>
          <a:ln/>
        </p:spPr>
        <p:txBody>
          <a:bodyPr wrap="square" rtlCol="0" anchor="ctr"/>
          <a:lstStyle/>
          <a:p>
            <a:pPr marL="0" indent="0" algn="ctr">
              <a:buNone/>
            </a:pPr>
            <a:r>
              <a:rPr lang="en-US" sz="1500" dirty="0">
                <a:solidFill>
                  <a:srgbClr val="9A9CA1"/>
                </a:solidFill>
                <a:latin typeface="Arial" pitchFamily="34" charset="0"/>
                <a:ea typeface="Arial" pitchFamily="34" charset="-122"/>
                <a:cs typeface="Arial" pitchFamily="34" charset="-120"/>
              </a:rPr>
              <a:t>→</a:t>
            </a:r>
            <a:endParaRPr lang="en-US" sz="1500" dirty="0"/>
          </a:p>
        </p:txBody>
      </p:sp>
      <p:sp>
        <p:nvSpPr>
          <p:cNvPr id="23" name="Shape 21"/>
          <p:cNvSpPr/>
          <p:nvPr/>
        </p:nvSpPr>
        <p:spPr>
          <a:xfrm>
            <a:off x="5084064" y="3703320"/>
            <a:ext cx="1956816" cy="914400"/>
          </a:xfrm>
          <a:prstGeom prst="rect">
            <a:avLst/>
          </a:prstGeom>
          <a:solidFill>
            <a:srgbClr val="FFFFFF"/>
          </a:solidFill>
          <a:ln w="17780">
            <a:solidFill>
              <a:srgbClr val="B45309"/>
            </a:solidFill>
            <a:prstDash val="solid"/>
          </a:ln>
        </p:spPr>
      </p:sp>
      <p:sp>
        <p:nvSpPr>
          <p:cNvPr id="24" name="Text 22"/>
          <p:cNvSpPr/>
          <p:nvPr/>
        </p:nvSpPr>
        <p:spPr>
          <a:xfrm>
            <a:off x="5157216" y="3849624"/>
            <a:ext cx="1810512" cy="292608"/>
          </a:xfrm>
          <a:prstGeom prst="rect">
            <a:avLst/>
          </a:prstGeom>
          <a:noFill/>
          <a:ln/>
        </p:spPr>
        <p:txBody>
          <a:bodyPr wrap="square" rtlCol="0" anchor="ctr"/>
          <a:lstStyle/>
          <a:p>
            <a:pPr marL="0" indent="0" algn="ctr">
              <a:buNone/>
            </a:pPr>
            <a:r>
              <a:rPr lang="en-US" sz="1250" b="1" dirty="0">
                <a:solidFill>
                  <a:srgbClr val="1A1C22"/>
                </a:solidFill>
                <a:latin typeface="Arial" pitchFamily="34" charset="0"/>
                <a:ea typeface="Arial" pitchFamily="34" charset="-122"/>
                <a:cs typeface="Arial" pitchFamily="34" charset="-120"/>
              </a:rPr>
              <a:t>Agent · ReAct</a:t>
            </a:r>
            <a:endParaRPr lang="en-US" sz="1250" dirty="0"/>
          </a:p>
        </p:txBody>
      </p:sp>
      <p:sp>
        <p:nvSpPr>
          <p:cNvPr id="25" name="Text 23"/>
          <p:cNvSpPr/>
          <p:nvPr/>
        </p:nvSpPr>
        <p:spPr>
          <a:xfrm>
            <a:off x="5138928" y="4160520"/>
            <a:ext cx="1847088" cy="384048"/>
          </a:xfrm>
          <a:prstGeom prst="rect">
            <a:avLst/>
          </a:prstGeom>
          <a:noFill/>
          <a:ln/>
        </p:spPr>
        <p:txBody>
          <a:bodyPr wrap="square" rtlCol="0" anchor="ctr"/>
          <a:lstStyle/>
          <a:p>
            <a:pPr marL="0" indent="0" algn="ctr">
              <a:buNone/>
            </a:pPr>
            <a:r>
              <a:rPr lang="en-US" sz="850" dirty="0">
                <a:solidFill>
                  <a:srgbClr val="5B5E66"/>
                </a:solidFill>
                <a:latin typeface="Courier New" pitchFamily="34" charset="0"/>
                <a:ea typeface="Courier New" pitchFamily="34" charset="-122"/>
                <a:cs typeface="Courier New" pitchFamily="34" charset="-120"/>
              </a:rPr>
              <a:t>LangGraph · Claude/OpenAI</a:t>
            </a:r>
            <a:endParaRPr lang="en-US" sz="850" dirty="0"/>
          </a:p>
        </p:txBody>
      </p:sp>
      <p:sp>
        <p:nvSpPr>
          <p:cNvPr id="26" name="Text 24"/>
          <p:cNvSpPr/>
          <p:nvPr/>
        </p:nvSpPr>
        <p:spPr>
          <a:xfrm>
            <a:off x="7040880" y="3703320"/>
            <a:ext cx="219456" cy="914400"/>
          </a:xfrm>
          <a:prstGeom prst="rect">
            <a:avLst/>
          </a:prstGeom>
          <a:noFill/>
          <a:ln/>
        </p:spPr>
        <p:txBody>
          <a:bodyPr wrap="square" rtlCol="0" anchor="ctr"/>
          <a:lstStyle/>
          <a:p>
            <a:pPr marL="0" indent="0" algn="ctr">
              <a:buNone/>
            </a:pPr>
            <a:r>
              <a:rPr lang="en-US" sz="1500" dirty="0">
                <a:solidFill>
                  <a:srgbClr val="9A9CA1"/>
                </a:solidFill>
                <a:latin typeface="Arial" pitchFamily="34" charset="0"/>
                <a:ea typeface="Arial" pitchFamily="34" charset="-122"/>
                <a:cs typeface="Arial" pitchFamily="34" charset="-120"/>
              </a:rPr>
              <a:t>→</a:t>
            </a:r>
            <a:endParaRPr lang="en-US" sz="1500" dirty="0"/>
          </a:p>
        </p:txBody>
      </p:sp>
      <p:sp>
        <p:nvSpPr>
          <p:cNvPr id="27" name="Shape 25"/>
          <p:cNvSpPr/>
          <p:nvPr/>
        </p:nvSpPr>
        <p:spPr>
          <a:xfrm>
            <a:off x="7260336" y="3703320"/>
            <a:ext cx="1956816" cy="914400"/>
          </a:xfrm>
          <a:prstGeom prst="rect">
            <a:avLst/>
          </a:prstGeom>
          <a:solidFill>
            <a:srgbClr val="FFFFFF"/>
          </a:solidFill>
          <a:ln w="12700">
            <a:solidFill>
              <a:srgbClr val="D9D8D2"/>
            </a:solidFill>
            <a:prstDash val="solid"/>
          </a:ln>
        </p:spPr>
      </p:sp>
      <p:sp>
        <p:nvSpPr>
          <p:cNvPr id="28" name="Text 26"/>
          <p:cNvSpPr/>
          <p:nvPr/>
        </p:nvSpPr>
        <p:spPr>
          <a:xfrm>
            <a:off x="7333488" y="3849624"/>
            <a:ext cx="1810512" cy="292608"/>
          </a:xfrm>
          <a:prstGeom prst="rect">
            <a:avLst/>
          </a:prstGeom>
          <a:noFill/>
          <a:ln/>
        </p:spPr>
        <p:txBody>
          <a:bodyPr wrap="square" rtlCol="0" anchor="ctr"/>
          <a:lstStyle/>
          <a:p>
            <a:pPr marL="0" indent="0" algn="ctr">
              <a:buNone/>
            </a:pPr>
            <a:r>
              <a:rPr lang="en-US" sz="1250" b="1" dirty="0">
                <a:solidFill>
                  <a:srgbClr val="1A1C22"/>
                </a:solidFill>
                <a:latin typeface="Arial" pitchFamily="34" charset="0"/>
                <a:ea typeface="Arial" pitchFamily="34" charset="-122"/>
                <a:cs typeface="Arial" pitchFamily="34" charset="-120"/>
              </a:rPr>
              <a:t>Synthesize</a:t>
            </a:r>
            <a:endParaRPr lang="en-US" sz="1250" dirty="0"/>
          </a:p>
        </p:txBody>
      </p:sp>
      <p:sp>
        <p:nvSpPr>
          <p:cNvPr id="29" name="Text 27"/>
          <p:cNvSpPr/>
          <p:nvPr/>
        </p:nvSpPr>
        <p:spPr>
          <a:xfrm>
            <a:off x="7315200" y="4160520"/>
            <a:ext cx="1847088" cy="384048"/>
          </a:xfrm>
          <a:prstGeom prst="rect">
            <a:avLst/>
          </a:prstGeom>
          <a:noFill/>
          <a:ln/>
        </p:spPr>
        <p:txBody>
          <a:bodyPr wrap="square" rtlCol="0" anchor="ctr"/>
          <a:lstStyle/>
          <a:p>
            <a:pPr marL="0" indent="0" algn="ctr">
              <a:buNone/>
            </a:pPr>
            <a:r>
              <a:rPr lang="en-US" sz="850" dirty="0">
                <a:solidFill>
                  <a:srgbClr val="5B5E66"/>
                </a:solidFill>
                <a:latin typeface="Courier New" pitchFamily="34" charset="0"/>
                <a:ea typeface="Courier New" pitchFamily="34" charset="-122"/>
                <a:cs typeface="Courier New" pitchFamily="34" charset="-120"/>
              </a:rPr>
              <a:t>risk · root-cause · cited fix</a:t>
            </a:r>
            <a:endParaRPr lang="en-US" sz="850" dirty="0"/>
          </a:p>
        </p:txBody>
      </p:sp>
      <p:sp>
        <p:nvSpPr>
          <p:cNvPr id="30" name="Text 28"/>
          <p:cNvSpPr/>
          <p:nvPr/>
        </p:nvSpPr>
        <p:spPr>
          <a:xfrm>
            <a:off x="9217152" y="3703320"/>
            <a:ext cx="219456" cy="914400"/>
          </a:xfrm>
          <a:prstGeom prst="rect">
            <a:avLst/>
          </a:prstGeom>
          <a:noFill/>
          <a:ln/>
        </p:spPr>
        <p:txBody>
          <a:bodyPr wrap="square" rtlCol="0" anchor="ctr"/>
          <a:lstStyle/>
          <a:p>
            <a:pPr marL="0" indent="0" algn="ctr">
              <a:buNone/>
            </a:pPr>
            <a:r>
              <a:rPr lang="en-US" sz="1500" dirty="0">
                <a:solidFill>
                  <a:srgbClr val="9A9CA1"/>
                </a:solidFill>
                <a:latin typeface="Arial" pitchFamily="34" charset="0"/>
                <a:ea typeface="Arial" pitchFamily="34" charset="-122"/>
                <a:cs typeface="Arial" pitchFamily="34" charset="-120"/>
              </a:rPr>
              <a:t>→</a:t>
            </a:r>
            <a:endParaRPr lang="en-US" sz="1500" dirty="0"/>
          </a:p>
        </p:txBody>
      </p:sp>
      <p:sp>
        <p:nvSpPr>
          <p:cNvPr id="31" name="Shape 29"/>
          <p:cNvSpPr/>
          <p:nvPr/>
        </p:nvSpPr>
        <p:spPr>
          <a:xfrm>
            <a:off x="9436608" y="3703320"/>
            <a:ext cx="1956816" cy="914400"/>
          </a:xfrm>
          <a:prstGeom prst="rect">
            <a:avLst/>
          </a:prstGeom>
          <a:solidFill>
            <a:srgbClr val="FFFFFF"/>
          </a:solidFill>
          <a:ln w="17780">
            <a:solidFill>
              <a:srgbClr val="0F6E68"/>
            </a:solidFill>
            <a:prstDash val="solid"/>
          </a:ln>
        </p:spPr>
      </p:sp>
      <p:sp>
        <p:nvSpPr>
          <p:cNvPr id="32" name="Text 30"/>
          <p:cNvSpPr/>
          <p:nvPr/>
        </p:nvSpPr>
        <p:spPr>
          <a:xfrm>
            <a:off x="9509760" y="3849624"/>
            <a:ext cx="1810512" cy="292608"/>
          </a:xfrm>
          <a:prstGeom prst="rect">
            <a:avLst/>
          </a:prstGeom>
          <a:noFill/>
          <a:ln/>
        </p:spPr>
        <p:txBody>
          <a:bodyPr wrap="square" rtlCol="0" anchor="ctr"/>
          <a:lstStyle/>
          <a:p>
            <a:pPr marL="0" indent="0" algn="ctr">
              <a:buNone/>
            </a:pPr>
            <a:r>
              <a:rPr lang="en-US" sz="1250" b="1" dirty="0">
                <a:solidFill>
                  <a:srgbClr val="1A1C22"/>
                </a:solidFill>
                <a:latin typeface="Arial" pitchFamily="34" charset="0"/>
                <a:ea typeface="Arial" pitchFamily="34" charset="-122"/>
                <a:cs typeface="Arial" pitchFamily="34" charset="-120"/>
              </a:rPr>
              <a:t>Write-back</a:t>
            </a:r>
            <a:endParaRPr lang="en-US" sz="1250" dirty="0"/>
          </a:p>
        </p:txBody>
      </p:sp>
      <p:sp>
        <p:nvSpPr>
          <p:cNvPr id="33" name="Text 31"/>
          <p:cNvSpPr/>
          <p:nvPr/>
        </p:nvSpPr>
        <p:spPr>
          <a:xfrm>
            <a:off x="9491472" y="4160520"/>
            <a:ext cx="1847088" cy="384048"/>
          </a:xfrm>
          <a:prstGeom prst="rect">
            <a:avLst/>
          </a:prstGeom>
          <a:noFill/>
          <a:ln/>
        </p:spPr>
        <p:txBody>
          <a:bodyPr wrap="square" rtlCol="0" anchor="ctr"/>
          <a:lstStyle/>
          <a:p>
            <a:pPr marL="0" indent="0" algn="ctr">
              <a:buNone/>
            </a:pPr>
            <a:r>
              <a:rPr lang="en-US" sz="850" dirty="0">
                <a:solidFill>
                  <a:srgbClr val="5B5E66"/>
                </a:solidFill>
                <a:latin typeface="Courier New" pitchFamily="34" charset="0"/>
                <a:ea typeface="Courier New" pitchFamily="34" charset="-122"/>
                <a:cs typeface="Courier New" pitchFamily="34" charset="-120"/>
              </a:rPr>
              <a:t>re-ingest → memory grows</a:t>
            </a:r>
            <a:endParaRPr lang="en-US" sz="850" dirty="0"/>
          </a:p>
        </p:txBody>
      </p:sp>
      <p:sp>
        <p:nvSpPr>
          <p:cNvPr id="34" name="Shape 32"/>
          <p:cNvSpPr/>
          <p:nvPr/>
        </p:nvSpPr>
        <p:spPr>
          <a:xfrm>
            <a:off x="1709928" y="4910328"/>
            <a:ext cx="8771839" cy="0"/>
          </a:xfrm>
          <a:prstGeom prst="line">
            <a:avLst/>
          </a:prstGeom>
          <a:noFill/>
          <a:ln w="15875">
            <a:solidFill>
              <a:srgbClr val="0F6E68"/>
            </a:solidFill>
            <a:prstDash val="dash"/>
            <a:headEnd type="triangle"/>
          </a:ln>
        </p:spPr>
      </p:sp>
      <p:sp>
        <p:nvSpPr>
          <p:cNvPr id="35" name="Text 33"/>
          <p:cNvSpPr/>
          <p:nvPr/>
        </p:nvSpPr>
        <p:spPr>
          <a:xfrm>
            <a:off x="731520" y="4965192"/>
            <a:ext cx="10728655" cy="274320"/>
          </a:xfrm>
          <a:prstGeom prst="rect">
            <a:avLst/>
          </a:prstGeom>
          <a:noFill/>
          <a:ln/>
        </p:spPr>
        <p:txBody>
          <a:bodyPr wrap="square" rtlCol="0" anchor="ctr"/>
          <a:lstStyle/>
          <a:p>
            <a:pPr marL="0" indent="0" algn="ctr">
              <a:buNone/>
            </a:pPr>
            <a:r>
              <a:rPr lang="en-US" sz="950" i="1" dirty="0">
                <a:solidFill>
                  <a:srgbClr val="0A524D"/>
                </a:solidFill>
                <a:latin typeface="Courier New" pitchFamily="34" charset="0"/>
                <a:ea typeface="Courier New" pitchFamily="34" charset="-122"/>
                <a:cs typeface="Courier New" pitchFamily="34" charset="-120"/>
              </a:rPr>
              <a:t>self-improving loop — today's answer becomes tomorrow's retrievable memory</a:t>
            </a:r>
            <a:endParaRPr lang="en-US" sz="950" dirty="0"/>
          </a:p>
        </p:txBody>
      </p:sp>
      <p:sp>
        <p:nvSpPr>
          <p:cNvPr id="36" name="Shape 34"/>
          <p:cNvSpPr/>
          <p:nvPr/>
        </p:nvSpPr>
        <p:spPr>
          <a:xfrm>
            <a:off x="731520" y="5806440"/>
            <a:ext cx="10728655" cy="0"/>
          </a:xfrm>
          <a:prstGeom prst="line">
            <a:avLst/>
          </a:prstGeom>
          <a:noFill/>
          <a:ln w="12700">
            <a:solidFill>
              <a:srgbClr val="D9D8D2"/>
            </a:solidFill>
            <a:prstDash val="solid"/>
          </a:ln>
        </p:spPr>
      </p:sp>
      <p:sp>
        <p:nvSpPr>
          <p:cNvPr id="37" name="Text 35"/>
          <p:cNvSpPr/>
          <p:nvPr/>
        </p:nvSpPr>
        <p:spPr>
          <a:xfrm>
            <a:off x="731520" y="5943600"/>
            <a:ext cx="10728655" cy="320040"/>
          </a:xfrm>
          <a:prstGeom prst="rect">
            <a:avLst/>
          </a:prstGeom>
          <a:noFill/>
          <a:ln/>
        </p:spPr>
        <p:txBody>
          <a:bodyPr wrap="square" rtlCol="0" anchor="ctr"/>
          <a:lstStyle/>
          <a:p>
            <a:pPr marL="0" indent="0">
              <a:buNone/>
            </a:pPr>
            <a:r>
              <a:rPr lang="en-US" sz="1500" i="1" dirty="0">
                <a:solidFill>
                  <a:srgbClr val="1A1C22"/>
                </a:solidFill>
                <a:latin typeface="Century Schoolbook" pitchFamily="34" charset="0"/>
                <a:ea typeface="Century Schoolbook" pitchFamily="34" charset="-122"/>
                <a:cs typeface="Century Schoolbook" pitchFamily="34" charset="-120"/>
              </a:rPr>
              <a:t>Swap the tools and the corpus, keep the core — that is how one system serves both DevOps and Automotive.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03</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03</a:t>
            </a:r>
            <a:r>
              <a:rPr lang="en-US" sz="1150" b="1" kern="0" spc="200" dirty="0">
                <a:solidFill>
                  <a:srgbClr val="3A3D45"/>
                </a:solidFill>
                <a:latin typeface="Courier New" pitchFamily="34" charset="0"/>
                <a:ea typeface="Courier New" pitchFamily="34" charset="-122"/>
                <a:cs typeface="Courier New" pitchFamily="34" charset="-120"/>
              </a:rPr>
              <a:t>  —  ENGINEERING / BUILD QUALITY</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03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Built to run: end-to-end, one command,</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offline-safe.</a:t>
            </a:r>
            <a:endParaRPr lang="en-US" sz="3300" dirty="0"/>
          </a:p>
        </p:txBody>
      </p:sp>
      <p:sp>
        <p:nvSpPr>
          <p:cNvPr id="9" name="Text 7"/>
          <p:cNvSpPr/>
          <p:nvPr/>
        </p:nvSpPr>
        <p:spPr>
          <a:xfrm>
            <a:off x="914400" y="2423160"/>
            <a:ext cx="2407844" cy="640080"/>
          </a:xfrm>
          <a:prstGeom prst="rect">
            <a:avLst/>
          </a:prstGeom>
          <a:noFill/>
          <a:ln/>
        </p:spPr>
        <p:txBody>
          <a:bodyPr wrap="square" rtlCol="0" anchor="ctr"/>
          <a:lstStyle/>
          <a:p>
            <a:pPr marL="0" indent="0" algn="l">
              <a:buNone/>
            </a:pPr>
            <a:r>
              <a:rPr lang="en-US" sz="4400" b="1" dirty="0">
                <a:solidFill>
                  <a:srgbClr val="B45309"/>
                </a:solidFill>
                <a:latin typeface="Century Schoolbook" pitchFamily="34" charset="0"/>
                <a:ea typeface="Century Schoolbook" pitchFamily="34" charset="-122"/>
                <a:cs typeface="Century Schoolbook" pitchFamily="34" charset="-120"/>
              </a:rPr>
              <a:t>8 / 4</a:t>
            </a:r>
            <a:endParaRPr lang="en-US" sz="4400" dirty="0"/>
          </a:p>
        </p:txBody>
      </p:sp>
      <p:sp>
        <p:nvSpPr>
          <p:cNvPr id="10" name="Text 8"/>
          <p:cNvSpPr/>
          <p:nvPr/>
        </p:nvSpPr>
        <p:spPr>
          <a:xfrm>
            <a:off x="932688" y="3172968"/>
            <a:ext cx="2362124" cy="457200"/>
          </a:xfrm>
          <a:prstGeom prst="rect">
            <a:avLst/>
          </a:prstGeom>
          <a:noFill/>
          <a:ln/>
        </p:spPr>
        <p:txBody>
          <a:bodyPr wrap="square" rtlCol="0" anchor="ctr"/>
          <a:lstStyle/>
          <a:p>
            <a:pPr marL="0" indent="0" algn="l">
              <a:buNone/>
            </a:pPr>
            <a:r>
              <a:rPr lang="en-US" sz="1150" dirty="0">
                <a:solidFill>
                  <a:srgbClr val="5B5E66"/>
                </a:solidFill>
                <a:latin typeface="Arial" pitchFamily="34" charset="0"/>
                <a:ea typeface="Arial" pitchFamily="34" charset="-122"/>
                <a:cs typeface="Arial" pitchFamily="34" charset="-120"/>
              </a:rPr>
              <a:t>Docker containers</a:t>
            </a:r>
            <a:endParaRPr lang="en-US" sz="1150" dirty="0"/>
          </a:p>
        </p:txBody>
      </p:sp>
      <p:sp>
        <p:nvSpPr>
          <p:cNvPr id="11" name="Shape 9"/>
          <p:cNvSpPr/>
          <p:nvPr/>
        </p:nvSpPr>
        <p:spPr>
          <a:xfrm>
            <a:off x="3413684" y="2514600"/>
            <a:ext cx="0" cy="1051560"/>
          </a:xfrm>
          <a:prstGeom prst="line">
            <a:avLst/>
          </a:prstGeom>
          <a:noFill/>
          <a:ln w="12700">
            <a:solidFill>
              <a:srgbClr val="D9D8D2"/>
            </a:solidFill>
            <a:prstDash val="solid"/>
          </a:ln>
        </p:spPr>
      </p:sp>
      <p:sp>
        <p:nvSpPr>
          <p:cNvPr id="12" name="Text 10"/>
          <p:cNvSpPr/>
          <p:nvPr/>
        </p:nvSpPr>
        <p:spPr>
          <a:xfrm>
            <a:off x="3596564" y="2423160"/>
            <a:ext cx="2407844" cy="640080"/>
          </a:xfrm>
          <a:prstGeom prst="rect">
            <a:avLst/>
          </a:prstGeom>
          <a:noFill/>
          <a:ln/>
        </p:spPr>
        <p:txBody>
          <a:bodyPr wrap="square" rtlCol="0" anchor="ctr"/>
          <a:lstStyle/>
          <a:p>
            <a:pPr marL="0" indent="0" algn="l">
              <a:buNone/>
            </a:pPr>
            <a:r>
              <a:rPr lang="en-US" sz="4400" b="1" dirty="0">
                <a:solidFill>
                  <a:srgbClr val="0F6E68"/>
                </a:solidFill>
                <a:latin typeface="Century Schoolbook" pitchFamily="34" charset="0"/>
                <a:ea typeface="Century Schoolbook" pitchFamily="34" charset="-122"/>
                <a:cs typeface="Century Schoolbook" pitchFamily="34" charset="-120"/>
              </a:rPr>
              <a:t>9</a:t>
            </a:r>
            <a:endParaRPr lang="en-US" sz="4400" dirty="0"/>
          </a:p>
        </p:txBody>
      </p:sp>
      <p:sp>
        <p:nvSpPr>
          <p:cNvPr id="13" name="Text 11"/>
          <p:cNvSpPr/>
          <p:nvPr/>
        </p:nvSpPr>
        <p:spPr>
          <a:xfrm>
            <a:off x="3614852" y="3172968"/>
            <a:ext cx="2362124" cy="457200"/>
          </a:xfrm>
          <a:prstGeom prst="rect">
            <a:avLst/>
          </a:prstGeom>
          <a:noFill/>
          <a:ln/>
        </p:spPr>
        <p:txBody>
          <a:bodyPr wrap="square" rtlCol="0" anchor="ctr"/>
          <a:lstStyle/>
          <a:p>
            <a:pPr marL="0" indent="0" algn="l">
              <a:buNone/>
            </a:pPr>
            <a:r>
              <a:rPr lang="en-US" sz="1150" dirty="0">
                <a:solidFill>
                  <a:srgbClr val="5B5E66"/>
                </a:solidFill>
                <a:latin typeface="Arial" pitchFamily="34" charset="0"/>
                <a:ea typeface="Arial" pitchFamily="34" charset="-122"/>
                <a:cs typeface="Arial" pitchFamily="34" charset="-120"/>
              </a:rPr>
              <a:t>routes + 8 integrations</a:t>
            </a:r>
            <a:endParaRPr lang="en-US" sz="1150" dirty="0"/>
          </a:p>
        </p:txBody>
      </p:sp>
      <p:sp>
        <p:nvSpPr>
          <p:cNvPr id="14" name="Shape 12"/>
          <p:cNvSpPr/>
          <p:nvPr/>
        </p:nvSpPr>
        <p:spPr>
          <a:xfrm>
            <a:off x="6095848" y="2514600"/>
            <a:ext cx="0" cy="1051560"/>
          </a:xfrm>
          <a:prstGeom prst="line">
            <a:avLst/>
          </a:prstGeom>
          <a:noFill/>
          <a:ln w="12700">
            <a:solidFill>
              <a:srgbClr val="D9D8D2"/>
            </a:solidFill>
            <a:prstDash val="solid"/>
          </a:ln>
        </p:spPr>
      </p:sp>
      <p:sp>
        <p:nvSpPr>
          <p:cNvPr id="15" name="Text 13"/>
          <p:cNvSpPr/>
          <p:nvPr/>
        </p:nvSpPr>
        <p:spPr>
          <a:xfrm>
            <a:off x="6278728" y="2423160"/>
            <a:ext cx="2407844" cy="640080"/>
          </a:xfrm>
          <a:prstGeom prst="rect">
            <a:avLst/>
          </a:prstGeom>
          <a:noFill/>
          <a:ln/>
        </p:spPr>
        <p:txBody>
          <a:bodyPr wrap="square" rtlCol="0" anchor="ctr"/>
          <a:lstStyle/>
          <a:p>
            <a:pPr marL="0" indent="0" algn="l">
              <a:buNone/>
            </a:pPr>
            <a:r>
              <a:rPr lang="en-US" sz="4400" b="1" dirty="0">
                <a:solidFill>
                  <a:srgbClr val="1A1C22"/>
                </a:solidFill>
                <a:latin typeface="Century Schoolbook" pitchFamily="34" charset="0"/>
                <a:ea typeface="Century Schoolbook" pitchFamily="34" charset="-122"/>
                <a:cs typeface="Century Schoolbook" pitchFamily="34" charset="-120"/>
              </a:rPr>
              <a:t>100%</a:t>
            </a:r>
            <a:endParaRPr lang="en-US" sz="4400" dirty="0"/>
          </a:p>
        </p:txBody>
      </p:sp>
      <p:sp>
        <p:nvSpPr>
          <p:cNvPr id="16" name="Text 14"/>
          <p:cNvSpPr/>
          <p:nvPr/>
        </p:nvSpPr>
        <p:spPr>
          <a:xfrm>
            <a:off x="6297016" y="3172968"/>
            <a:ext cx="2362124" cy="457200"/>
          </a:xfrm>
          <a:prstGeom prst="rect">
            <a:avLst/>
          </a:prstGeom>
          <a:noFill/>
          <a:ln/>
        </p:spPr>
        <p:txBody>
          <a:bodyPr wrap="square" rtlCol="0" anchor="ctr"/>
          <a:lstStyle/>
          <a:p>
            <a:pPr marL="0" indent="0" algn="l">
              <a:buNone/>
            </a:pPr>
            <a:r>
              <a:rPr lang="en-US" sz="1150" dirty="0">
                <a:solidFill>
                  <a:srgbClr val="5B5E66"/>
                </a:solidFill>
                <a:latin typeface="Arial" pitchFamily="34" charset="0"/>
                <a:ea typeface="Arial" pitchFamily="34" charset="-122"/>
                <a:cs typeface="Arial" pitchFamily="34" charset="-120"/>
              </a:rPr>
              <a:t>async · SSE streamed</a:t>
            </a:r>
            <a:endParaRPr lang="en-US" sz="1150" dirty="0"/>
          </a:p>
        </p:txBody>
      </p:sp>
      <p:sp>
        <p:nvSpPr>
          <p:cNvPr id="17" name="Shape 15"/>
          <p:cNvSpPr/>
          <p:nvPr/>
        </p:nvSpPr>
        <p:spPr>
          <a:xfrm>
            <a:off x="8778011" y="2514600"/>
            <a:ext cx="0" cy="1051560"/>
          </a:xfrm>
          <a:prstGeom prst="line">
            <a:avLst/>
          </a:prstGeom>
          <a:noFill/>
          <a:ln w="12700">
            <a:solidFill>
              <a:srgbClr val="D9D8D2"/>
            </a:solidFill>
            <a:prstDash val="solid"/>
          </a:ln>
        </p:spPr>
      </p:sp>
      <p:sp>
        <p:nvSpPr>
          <p:cNvPr id="18" name="Text 16"/>
          <p:cNvSpPr/>
          <p:nvPr/>
        </p:nvSpPr>
        <p:spPr>
          <a:xfrm>
            <a:off x="8960891" y="2423160"/>
            <a:ext cx="2407844" cy="640080"/>
          </a:xfrm>
          <a:prstGeom prst="rect">
            <a:avLst/>
          </a:prstGeom>
          <a:noFill/>
          <a:ln/>
        </p:spPr>
        <p:txBody>
          <a:bodyPr wrap="square" rtlCol="0" anchor="ctr"/>
          <a:lstStyle/>
          <a:p>
            <a:pPr marL="0" indent="0" algn="l">
              <a:buNone/>
            </a:pPr>
            <a:r>
              <a:rPr lang="en-US" sz="4400" b="1" dirty="0">
                <a:solidFill>
                  <a:srgbClr val="B45309"/>
                </a:solidFill>
                <a:latin typeface="Century Schoolbook" pitchFamily="34" charset="0"/>
                <a:ea typeface="Century Schoolbook" pitchFamily="34" charset="-122"/>
                <a:cs typeface="Century Schoolbook" pitchFamily="34" charset="-120"/>
              </a:rPr>
              <a:t>0</a:t>
            </a:r>
            <a:endParaRPr lang="en-US" sz="4400" dirty="0"/>
          </a:p>
        </p:txBody>
      </p:sp>
      <p:sp>
        <p:nvSpPr>
          <p:cNvPr id="19" name="Text 17"/>
          <p:cNvSpPr/>
          <p:nvPr/>
        </p:nvSpPr>
        <p:spPr>
          <a:xfrm>
            <a:off x="8979179" y="3172968"/>
            <a:ext cx="2362124" cy="457200"/>
          </a:xfrm>
          <a:prstGeom prst="rect">
            <a:avLst/>
          </a:prstGeom>
          <a:noFill/>
          <a:ln/>
        </p:spPr>
        <p:txBody>
          <a:bodyPr wrap="square" rtlCol="0" anchor="ctr"/>
          <a:lstStyle/>
          <a:p>
            <a:pPr marL="0" indent="0" algn="l">
              <a:buNone/>
            </a:pPr>
            <a:r>
              <a:rPr lang="en-US" sz="1150" dirty="0">
                <a:solidFill>
                  <a:srgbClr val="5B5E66"/>
                </a:solidFill>
                <a:latin typeface="Arial" pitchFamily="34" charset="0"/>
                <a:ea typeface="Arial" pitchFamily="34" charset="-122"/>
                <a:cs typeface="Arial" pitchFamily="34" charset="-120"/>
              </a:rPr>
              <a:t>tokens to run the demo</a:t>
            </a:r>
            <a:endParaRPr lang="en-US" sz="1150" dirty="0"/>
          </a:p>
        </p:txBody>
      </p:sp>
      <p:sp>
        <p:nvSpPr>
          <p:cNvPr id="20" name="Shape 18"/>
          <p:cNvSpPr/>
          <p:nvPr/>
        </p:nvSpPr>
        <p:spPr>
          <a:xfrm>
            <a:off x="731520" y="3977640"/>
            <a:ext cx="10728655" cy="0"/>
          </a:xfrm>
          <a:prstGeom prst="line">
            <a:avLst/>
          </a:prstGeom>
          <a:noFill/>
          <a:ln w="12700">
            <a:solidFill>
              <a:srgbClr val="D9D8D2"/>
            </a:solidFill>
            <a:prstDash val="solid"/>
          </a:ln>
        </p:spPr>
      </p:sp>
      <p:sp>
        <p:nvSpPr>
          <p:cNvPr id="21" name="Text 19"/>
          <p:cNvSpPr/>
          <p:nvPr/>
        </p:nvSpPr>
        <p:spPr>
          <a:xfrm>
            <a:off x="731520" y="4114800"/>
            <a:ext cx="5486400" cy="274320"/>
          </a:xfrm>
          <a:prstGeom prst="rect">
            <a:avLst/>
          </a:prstGeom>
          <a:noFill/>
          <a:ln/>
        </p:spPr>
        <p:txBody>
          <a:bodyPr wrap="square" rtlCol="0" anchor="ctr"/>
          <a:lstStyle/>
          <a:p>
            <a:pPr marL="0" indent="0">
              <a:buNone/>
            </a:pPr>
            <a:r>
              <a:rPr lang="en-US" sz="1050" b="1" kern="0" spc="200" dirty="0">
                <a:solidFill>
                  <a:srgbClr val="5B5E66"/>
                </a:solidFill>
                <a:latin typeface="Courier New" pitchFamily="34" charset="0"/>
                <a:ea typeface="Courier New" pitchFamily="34" charset="-122"/>
                <a:cs typeface="Courier New" pitchFamily="34" charset="-120"/>
              </a:rPr>
              <a:t>ENGINEERING DECISIONS</a:t>
            </a:r>
            <a:endParaRPr lang="en-US" sz="1050" dirty="0"/>
          </a:p>
        </p:txBody>
      </p:sp>
      <p:sp>
        <p:nvSpPr>
          <p:cNvPr id="22" name="Text 20"/>
          <p:cNvSpPr/>
          <p:nvPr/>
        </p:nvSpPr>
        <p:spPr>
          <a:xfrm>
            <a:off x="731520" y="4526280"/>
            <a:ext cx="5090008" cy="256032"/>
          </a:xfrm>
          <a:prstGeom prst="rect">
            <a:avLst/>
          </a:prstGeom>
          <a:noFill/>
          <a:ln/>
        </p:spPr>
        <p:txBody>
          <a:bodyPr wrap="square" rtlCol="0" anchor="ctr"/>
          <a:lstStyle/>
          <a:p>
            <a:pPr marL="0" indent="0">
              <a:buNone/>
            </a:pPr>
            <a:r>
              <a:rPr lang="en-US" sz="1250" b="1" dirty="0">
                <a:solidFill>
                  <a:srgbClr val="B45309"/>
                </a:solidFill>
                <a:latin typeface="Arial" pitchFamily="34" charset="0"/>
                <a:ea typeface="Arial" pitchFamily="34" charset="-122"/>
                <a:cs typeface="Arial" pitchFamily="34" charset="-120"/>
              </a:rPr>
              <a:t>› </a:t>
            </a:r>
            <a:r>
              <a:rPr lang="en-US" sz="1250" b="1" dirty="0">
                <a:solidFill>
                  <a:srgbClr val="1A1C22"/>
                </a:solidFill>
                <a:latin typeface="Arial" pitchFamily="34" charset="0"/>
                <a:ea typeface="Arial" pitchFamily="34" charset="-122"/>
                <a:cs typeface="Arial" pitchFamily="34" charset="-120"/>
              </a:rPr>
              <a:t>FastAPI · Python 3.11 · fully async</a:t>
            </a:r>
            <a:endParaRPr lang="en-US" sz="1250" dirty="0"/>
          </a:p>
        </p:txBody>
      </p:sp>
      <p:sp>
        <p:nvSpPr>
          <p:cNvPr id="23" name="Text 21"/>
          <p:cNvSpPr/>
          <p:nvPr/>
        </p:nvSpPr>
        <p:spPr>
          <a:xfrm>
            <a:off x="896112" y="4764024"/>
            <a:ext cx="4925416" cy="274320"/>
          </a:xfrm>
          <a:prstGeom prst="rect">
            <a:avLst/>
          </a:prstGeom>
          <a:noFill/>
          <a:ln/>
        </p:spPr>
        <p:txBody>
          <a:bodyPr wrap="square" rtlCol="0" anchor="ctr"/>
          <a:lstStyle/>
          <a:p>
            <a:pPr marL="0" indent="0">
              <a:buNone/>
            </a:pPr>
            <a:r>
              <a:rPr lang="en-US" sz="1050" dirty="0">
                <a:solidFill>
                  <a:srgbClr val="5B5E66"/>
                </a:solidFill>
                <a:latin typeface="Arial" pitchFamily="34" charset="0"/>
                <a:ea typeface="Arial" pitchFamily="34" charset="-122"/>
                <a:cs typeface="Arial" pitchFamily="34" charset="-120"/>
              </a:rPr>
              <a:t>non-blocking, streamed end-to-end over Server-Sent Events</a:t>
            </a:r>
            <a:endParaRPr lang="en-US" sz="1050" dirty="0"/>
          </a:p>
        </p:txBody>
      </p:sp>
      <p:sp>
        <p:nvSpPr>
          <p:cNvPr id="24" name="Text 22"/>
          <p:cNvSpPr/>
          <p:nvPr/>
        </p:nvSpPr>
        <p:spPr>
          <a:xfrm>
            <a:off x="731520" y="5074920"/>
            <a:ext cx="5090008" cy="256032"/>
          </a:xfrm>
          <a:prstGeom prst="rect">
            <a:avLst/>
          </a:prstGeom>
          <a:noFill/>
          <a:ln/>
        </p:spPr>
        <p:txBody>
          <a:bodyPr wrap="square" rtlCol="0" anchor="ctr"/>
          <a:lstStyle/>
          <a:p>
            <a:pPr marL="0" indent="0">
              <a:buNone/>
            </a:pPr>
            <a:r>
              <a:rPr lang="en-US" sz="1250" b="1" dirty="0">
                <a:solidFill>
                  <a:srgbClr val="0F6E68"/>
                </a:solidFill>
                <a:latin typeface="Arial" pitchFamily="34" charset="0"/>
                <a:ea typeface="Arial" pitchFamily="34" charset="-122"/>
                <a:cs typeface="Arial" pitchFamily="34" charset="-120"/>
              </a:rPr>
              <a:t>› </a:t>
            </a:r>
            <a:r>
              <a:rPr lang="en-US" sz="1250" b="1" dirty="0">
                <a:solidFill>
                  <a:srgbClr val="1A1C22"/>
                </a:solidFill>
                <a:latin typeface="Arial" pitchFamily="34" charset="0"/>
                <a:ea typeface="Arial" pitchFamily="34" charset="-122"/>
                <a:cs typeface="Arial" pitchFamily="34" charset="-120"/>
              </a:rPr>
              <a:t>Mock fallback on every stage</a:t>
            </a:r>
            <a:endParaRPr lang="en-US" sz="1250" dirty="0"/>
          </a:p>
        </p:txBody>
      </p:sp>
      <p:sp>
        <p:nvSpPr>
          <p:cNvPr id="25" name="Text 23"/>
          <p:cNvSpPr/>
          <p:nvPr/>
        </p:nvSpPr>
        <p:spPr>
          <a:xfrm>
            <a:off x="896112" y="5312664"/>
            <a:ext cx="4925416" cy="274320"/>
          </a:xfrm>
          <a:prstGeom prst="rect">
            <a:avLst/>
          </a:prstGeom>
          <a:noFill/>
          <a:ln/>
        </p:spPr>
        <p:txBody>
          <a:bodyPr wrap="square" rtlCol="0" anchor="ctr"/>
          <a:lstStyle/>
          <a:p>
            <a:pPr marL="0" indent="0">
              <a:buNone/>
            </a:pPr>
            <a:r>
              <a:rPr lang="en-US" sz="1050" dirty="0">
                <a:solidFill>
                  <a:srgbClr val="5B5E66"/>
                </a:solidFill>
                <a:latin typeface="Arial" pitchFamily="34" charset="0"/>
                <a:ea typeface="Arial" pitchFamily="34" charset="-122"/>
                <a:cs typeface="Arial" pitchFamily="34" charset="-120"/>
              </a:rPr>
              <a:t>the full demo runs offline — no wifi risk, no token spend</a:t>
            </a:r>
            <a:endParaRPr lang="en-US" sz="1050" dirty="0"/>
          </a:p>
        </p:txBody>
      </p:sp>
      <p:sp>
        <p:nvSpPr>
          <p:cNvPr id="26" name="Text 24"/>
          <p:cNvSpPr/>
          <p:nvPr/>
        </p:nvSpPr>
        <p:spPr>
          <a:xfrm>
            <a:off x="731520" y="5623560"/>
            <a:ext cx="5090008" cy="256032"/>
          </a:xfrm>
          <a:prstGeom prst="rect">
            <a:avLst/>
          </a:prstGeom>
          <a:noFill/>
          <a:ln/>
        </p:spPr>
        <p:txBody>
          <a:bodyPr wrap="square" rtlCol="0" anchor="ctr"/>
          <a:lstStyle/>
          <a:p>
            <a:pPr marL="0" indent="0">
              <a:buNone/>
            </a:pPr>
            <a:r>
              <a:rPr lang="en-US" sz="1250" b="1" dirty="0">
                <a:solidFill>
                  <a:srgbClr val="B45309"/>
                </a:solidFill>
                <a:latin typeface="Arial" pitchFamily="34" charset="0"/>
                <a:ea typeface="Arial" pitchFamily="34" charset="-122"/>
                <a:cs typeface="Arial" pitchFamily="34" charset="-120"/>
              </a:rPr>
              <a:t>› </a:t>
            </a:r>
            <a:r>
              <a:rPr lang="en-US" sz="1250" b="1" dirty="0">
                <a:solidFill>
                  <a:srgbClr val="1A1C22"/>
                </a:solidFill>
                <a:latin typeface="Arial" pitchFamily="34" charset="0"/>
                <a:ea typeface="Arial" pitchFamily="34" charset="-122"/>
                <a:cs typeface="Arial" pitchFamily="34" charset="-120"/>
              </a:rPr>
              <a:t>Self-healing graph store</a:t>
            </a:r>
            <a:endParaRPr lang="en-US" sz="1250" dirty="0"/>
          </a:p>
        </p:txBody>
      </p:sp>
      <p:sp>
        <p:nvSpPr>
          <p:cNvPr id="27" name="Text 25"/>
          <p:cNvSpPr/>
          <p:nvPr/>
        </p:nvSpPr>
        <p:spPr>
          <a:xfrm>
            <a:off x="896112" y="5861304"/>
            <a:ext cx="4925416" cy="274320"/>
          </a:xfrm>
          <a:prstGeom prst="rect">
            <a:avLst/>
          </a:prstGeom>
          <a:noFill/>
          <a:ln/>
        </p:spPr>
        <p:txBody>
          <a:bodyPr wrap="square" rtlCol="0" anchor="ctr"/>
          <a:lstStyle/>
          <a:p>
            <a:pPr marL="0" indent="0">
              <a:buNone/>
            </a:pPr>
            <a:r>
              <a:rPr lang="en-US" sz="1050" dirty="0">
                <a:solidFill>
                  <a:srgbClr val="5B5E66"/>
                </a:solidFill>
                <a:latin typeface="Arial" pitchFamily="34" charset="0"/>
                <a:ea typeface="Arial" pitchFamily="34" charset="-122"/>
                <a:cs typeface="Arial" pitchFamily="34" charset="-120"/>
              </a:rPr>
              <a:t>auto-reconnect on Neo4j; a single write path via store_claim()</a:t>
            </a:r>
            <a:endParaRPr lang="en-US" sz="1050" dirty="0"/>
          </a:p>
        </p:txBody>
      </p:sp>
      <p:sp>
        <p:nvSpPr>
          <p:cNvPr id="28" name="Text 26"/>
          <p:cNvSpPr/>
          <p:nvPr/>
        </p:nvSpPr>
        <p:spPr>
          <a:xfrm>
            <a:off x="6370168" y="4526280"/>
            <a:ext cx="5090008" cy="256032"/>
          </a:xfrm>
          <a:prstGeom prst="rect">
            <a:avLst/>
          </a:prstGeom>
          <a:noFill/>
          <a:ln/>
        </p:spPr>
        <p:txBody>
          <a:bodyPr wrap="square" rtlCol="0" anchor="ctr"/>
          <a:lstStyle/>
          <a:p>
            <a:pPr marL="0" indent="0">
              <a:buNone/>
            </a:pPr>
            <a:r>
              <a:rPr lang="en-US" sz="1250" b="1" dirty="0">
                <a:solidFill>
                  <a:srgbClr val="0F6E68"/>
                </a:solidFill>
                <a:latin typeface="Arial" pitchFamily="34" charset="0"/>
                <a:ea typeface="Arial" pitchFamily="34" charset="-122"/>
                <a:cs typeface="Arial" pitchFamily="34" charset="-120"/>
              </a:rPr>
              <a:t>› </a:t>
            </a:r>
            <a:r>
              <a:rPr lang="en-US" sz="1250" b="1" dirty="0">
                <a:solidFill>
                  <a:srgbClr val="1A1C22"/>
                </a:solidFill>
                <a:latin typeface="Arial" pitchFamily="34" charset="0"/>
                <a:ea typeface="Arial" pitchFamily="34" charset="-122"/>
                <a:cs typeface="Arial" pitchFamily="34" charset="-120"/>
              </a:rPr>
              <a:t>One-command bootstrap</a:t>
            </a:r>
            <a:endParaRPr lang="en-US" sz="1250" dirty="0"/>
          </a:p>
        </p:txBody>
      </p:sp>
      <p:sp>
        <p:nvSpPr>
          <p:cNvPr id="29" name="Text 27"/>
          <p:cNvSpPr/>
          <p:nvPr/>
        </p:nvSpPr>
        <p:spPr>
          <a:xfrm>
            <a:off x="6534760" y="4764024"/>
            <a:ext cx="4925416" cy="274320"/>
          </a:xfrm>
          <a:prstGeom prst="rect">
            <a:avLst/>
          </a:prstGeom>
          <a:noFill/>
          <a:ln/>
        </p:spPr>
        <p:txBody>
          <a:bodyPr wrap="square" rtlCol="0" anchor="ctr"/>
          <a:lstStyle/>
          <a:p>
            <a:pPr marL="0" indent="0">
              <a:buNone/>
            </a:pPr>
            <a:r>
              <a:rPr lang="en-US" sz="1050" dirty="0">
                <a:solidFill>
                  <a:srgbClr val="5B5E66"/>
                </a:solidFill>
                <a:latin typeface="Arial" pitchFamily="34" charset="0"/>
                <a:ea typeface="Arial" pitchFamily="34" charset="-122"/>
                <a:cs typeface="Arial" pitchFamily="34" charset="-120"/>
              </a:rPr>
              <a:t>Docker Compose, hot-reload dev mounts, fully reproducible</a:t>
            </a:r>
            <a:endParaRPr lang="en-US" sz="1050" dirty="0"/>
          </a:p>
        </p:txBody>
      </p:sp>
      <p:sp>
        <p:nvSpPr>
          <p:cNvPr id="30" name="Text 28"/>
          <p:cNvSpPr/>
          <p:nvPr/>
        </p:nvSpPr>
        <p:spPr>
          <a:xfrm>
            <a:off x="6370168" y="5074920"/>
            <a:ext cx="5090008" cy="256032"/>
          </a:xfrm>
          <a:prstGeom prst="rect">
            <a:avLst/>
          </a:prstGeom>
          <a:noFill/>
          <a:ln/>
        </p:spPr>
        <p:txBody>
          <a:bodyPr wrap="square" rtlCol="0" anchor="ctr"/>
          <a:lstStyle/>
          <a:p>
            <a:pPr marL="0" indent="0">
              <a:buNone/>
            </a:pPr>
            <a:r>
              <a:rPr lang="en-US" sz="1250" b="1" dirty="0">
                <a:solidFill>
                  <a:srgbClr val="B45309"/>
                </a:solidFill>
                <a:latin typeface="Arial" pitchFamily="34" charset="0"/>
                <a:ea typeface="Arial" pitchFamily="34" charset="-122"/>
                <a:cs typeface="Arial" pitchFamily="34" charset="-120"/>
              </a:rPr>
              <a:t>› </a:t>
            </a:r>
            <a:r>
              <a:rPr lang="en-US" sz="1250" b="1" dirty="0">
                <a:solidFill>
                  <a:srgbClr val="1A1C22"/>
                </a:solidFill>
                <a:latin typeface="Arial" pitchFamily="34" charset="0"/>
                <a:ea typeface="Arial" pitchFamily="34" charset="-122"/>
                <a:cs typeface="Arial" pitchFamily="34" charset="-120"/>
              </a:rPr>
              <a:t>Graceful degradation by design</a:t>
            </a:r>
            <a:endParaRPr lang="en-US" sz="1250" dirty="0"/>
          </a:p>
        </p:txBody>
      </p:sp>
      <p:sp>
        <p:nvSpPr>
          <p:cNvPr id="31" name="Text 29"/>
          <p:cNvSpPr/>
          <p:nvPr/>
        </p:nvSpPr>
        <p:spPr>
          <a:xfrm>
            <a:off x="6534760" y="5312664"/>
            <a:ext cx="4925416" cy="274320"/>
          </a:xfrm>
          <a:prstGeom prst="rect">
            <a:avLst/>
          </a:prstGeom>
          <a:noFill/>
          <a:ln/>
        </p:spPr>
        <p:txBody>
          <a:bodyPr wrap="square" rtlCol="0" anchor="ctr"/>
          <a:lstStyle/>
          <a:p>
            <a:pPr marL="0" indent="0">
              <a:buNone/>
            </a:pPr>
            <a:r>
              <a:rPr lang="en-US" sz="1050" dirty="0">
                <a:solidFill>
                  <a:srgbClr val="5B5E66"/>
                </a:solidFill>
                <a:latin typeface="Arial" pitchFamily="34" charset="0"/>
                <a:ea typeface="Arial" pitchFamily="34" charset="-122"/>
                <a:cs typeface="Arial" pitchFamily="34" charset="-120"/>
              </a:rPr>
              <a:t>deterministic hero paths guarantee the demo always lands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04</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04</a:t>
            </a:r>
            <a:r>
              <a:rPr lang="en-US" sz="1150" b="1" kern="0" spc="200" dirty="0">
                <a:solidFill>
                  <a:srgbClr val="3A3D45"/>
                </a:solidFill>
                <a:latin typeface="Courier New" pitchFamily="34" charset="0"/>
                <a:ea typeface="Courier New" pitchFamily="34" charset="-122"/>
                <a:cs typeface="Courier New" pitchFamily="34" charset="-120"/>
              </a:rPr>
              <a:t>  —  AI APPROPRIATENESS</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04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Why agentic RAG is the right tool —</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and a chatbot isn't.</a:t>
            </a:r>
            <a:endParaRPr lang="en-US" sz="3300" dirty="0"/>
          </a:p>
        </p:txBody>
      </p:sp>
      <p:sp>
        <p:nvSpPr>
          <p:cNvPr id="9" name="Shape 7"/>
          <p:cNvSpPr/>
          <p:nvPr/>
        </p:nvSpPr>
        <p:spPr>
          <a:xfrm>
            <a:off x="6095848" y="2377440"/>
            <a:ext cx="0" cy="1737360"/>
          </a:xfrm>
          <a:prstGeom prst="line">
            <a:avLst/>
          </a:prstGeom>
          <a:noFill/>
          <a:ln w="12700">
            <a:solidFill>
              <a:srgbClr val="D9D8D2"/>
            </a:solidFill>
            <a:prstDash val="solid"/>
          </a:ln>
        </p:spPr>
      </p:sp>
      <p:sp>
        <p:nvSpPr>
          <p:cNvPr id="10" name="Text 8"/>
          <p:cNvSpPr/>
          <p:nvPr/>
        </p:nvSpPr>
        <p:spPr>
          <a:xfrm>
            <a:off x="731520" y="2377440"/>
            <a:ext cx="4952848" cy="320040"/>
          </a:xfrm>
          <a:prstGeom prst="rect">
            <a:avLst/>
          </a:prstGeom>
          <a:noFill/>
          <a:ln/>
        </p:spPr>
        <p:txBody>
          <a:bodyPr wrap="square" rtlCol="0" anchor="ctr"/>
          <a:lstStyle/>
          <a:p>
            <a:pPr marL="0" indent="0">
              <a:buNone/>
            </a:pPr>
            <a:r>
              <a:rPr lang="en-US" sz="1600" b="1" dirty="0">
                <a:solidFill>
                  <a:srgbClr val="5B5E66"/>
                </a:solidFill>
                <a:latin typeface="Century Schoolbook" pitchFamily="34" charset="0"/>
                <a:ea typeface="Century Schoolbook" pitchFamily="34" charset="-122"/>
                <a:cs typeface="Century Schoolbook" pitchFamily="34" charset="-120"/>
              </a:rPr>
              <a:t>A raw LLM would…</a:t>
            </a:r>
            <a:endParaRPr lang="en-US" sz="1600" dirty="0"/>
          </a:p>
        </p:txBody>
      </p:sp>
      <p:sp>
        <p:nvSpPr>
          <p:cNvPr id="11" name="Text 9"/>
          <p:cNvSpPr/>
          <p:nvPr/>
        </p:nvSpPr>
        <p:spPr>
          <a:xfrm>
            <a:off x="731520" y="2834640"/>
            <a:ext cx="4769968" cy="320040"/>
          </a:xfrm>
          <a:prstGeom prst="rect">
            <a:avLst/>
          </a:prstGeom>
          <a:noFill/>
          <a:ln/>
        </p:spPr>
        <p:txBody>
          <a:bodyPr wrap="square" rtlCol="0" anchor="ctr"/>
          <a:lstStyle/>
          <a:p>
            <a:pPr marL="0" indent="0">
              <a:buNone/>
            </a:pPr>
            <a:r>
              <a:rPr lang="en-US" sz="1350" b="1" dirty="0">
                <a:solidFill>
                  <a:srgbClr val="B0453A"/>
                </a:solidFill>
                <a:latin typeface="Arial" pitchFamily="34" charset="0"/>
                <a:ea typeface="Arial" pitchFamily="34" charset="-122"/>
                <a:cs typeface="Arial" pitchFamily="34" charset="-120"/>
              </a:rPr>
              <a:t>✕  </a:t>
            </a:r>
            <a:r>
              <a:rPr lang="en-US" sz="1350" dirty="0">
                <a:solidFill>
                  <a:srgbClr val="3A3D45"/>
                </a:solidFill>
                <a:latin typeface="Arial" pitchFamily="34" charset="0"/>
                <a:ea typeface="Arial" pitchFamily="34" charset="-122"/>
                <a:cs typeface="Arial" pitchFamily="34" charset="-120"/>
              </a:rPr>
              <a:t>treat every incident as brand-new</a:t>
            </a:r>
            <a:endParaRPr lang="en-US" sz="1350" dirty="0"/>
          </a:p>
        </p:txBody>
      </p:sp>
      <p:sp>
        <p:nvSpPr>
          <p:cNvPr id="12" name="Text 10"/>
          <p:cNvSpPr/>
          <p:nvPr/>
        </p:nvSpPr>
        <p:spPr>
          <a:xfrm>
            <a:off x="731520" y="3218688"/>
            <a:ext cx="4769968" cy="320040"/>
          </a:xfrm>
          <a:prstGeom prst="rect">
            <a:avLst/>
          </a:prstGeom>
          <a:noFill/>
          <a:ln/>
        </p:spPr>
        <p:txBody>
          <a:bodyPr wrap="square" rtlCol="0" anchor="ctr"/>
          <a:lstStyle/>
          <a:p>
            <a:pPr marL="0" indent="0">
              <a:buNone/>
            </a:pPr>
            <a:r>
              <a:rPr lang="en-US" sz="1350" b="1" dirty="0">
                <a:solidFill>
                  <a:srgbClr val="B0453A"/>
                </a:solidFill>
                <a:latin typeface="Arial" pitchFamily="34" charset="0"/>
                <a:ea typeface="Arial" pitchFamily="34" charset="-122"/>
                <a:cs typeface="Arial" pitchFamily="34" charset="-120"/>
              </a:rPr>
              <a:t>✕  </a:t>
            </a:r>
            <a:r>
              <a:rPr lang="en-US" sz="1350" dirty="0">
                <a:solidFill>
                  <a:srgbClr val="3A3D45"/>
                </a:solidFill>
                <a:latin typeface="Arial" pitchFamily="34" charset="0"/>
                <a:ea typeface="Arial" pitchFamily="34" charset="-122"/>
                <a:cs typeface="Arial" pitchFamily="34" charset="-120"/>
              </a:rPr>
              <a:t>hallucinate fixes with no evidence</a:t>
            </a:r>
            <a:endParaRPr lang="en-US" sz="1350" dirty="0"/>
          </a:p>
        </p:txBody>
      </p:sp>
      <p:sp>
        <p:nvSpPr>
          <p:cNvPr id="13" name="Text 11"/>
          <p:cNvSpPr/>
          <p:nvPr/>
        </p:nvSpPr>
        <p:spPr>
          <a:xfrm>
            <a:off x="731520" y="3602736"/>
            <a:ext cx="4769968" cy="320040"/>
          </a:xfrm>
          <a:prstGeom prst="rect">
            <a:avLst/>
          </a:prstGeom>
          <a:noFill/>
          <a:ln/>
        </p:spPr>
        <p:txBody>
          <a:bodyPr wrap="square" rtlCol="0" anchor="ctr"/>
          <a:lstStyle/>
          <a:p>
            <a:pPr marL="0" indent="0">
              <a:buNone/>
            </a:pPr>
            <a:r>
              <a:rPr lang="en-US" sz="1350" b="1" dirty="0">
                <a:solidFill>
                  <a:srgbClr val="B0453A"/>
                </a:solidFill>
                <a:latin typeface="Arial" pitchFamily="34" charset="0"/>
                <a:ea typeface="Arial" pitchFamily="34" charset="-122"/>
                <a:cs typeface="Arial" pitchFamily="34" charset="-120"/>
              </a:rPr>
              <a:t>✕  </a:t>
            </a:r>
            <a:r>
              <a:rPr lang="en-US" sz="1350" dirty="0">
                <a:solidFill>
                  <a:srgbClr val="3A3D45"/>
                </a:solidFill>
                <a:latin typeface="Arial" pitchFamily="34" charset="0"/>
                <a:ea typeface="Arial" pitchFamily="34" charset="-122"/>
                <a:cs typeface="Arial" pitchFamily="34" charset="-120"/>
              </a:rPr>
              <a:t>forget the moment the chat closes</a:t>
            </a:r>
            <a:endParaRPr lang="en-US" sz="1350" dirty="0"/>
          </a:p>
        </p:txBody>
      </p:sp>
      <p:sp>
        <p:nvSpPr>
          <p:cNvPr id="14" name="Text 12"/>
          <p:cNvSpPr/>
          <p:nvPr/>
        </p:nvSpPr>
        <p:spPr>
          <a:xfrm>
            <a:off x="6507328" y="2377440"/>
            <a:ext cx="4952848" cy="320040"/>
          </a:xfrm>
          <a:prstGeom prst="rect">
            <a:avLst/>
          </a:prstGeom>
          <a:noFill/>
          <a:ln/>
        </p:spPr>
        <p:txBody>
          <a:bodyPr wrap="square" rtlCol="0" anchor="ctr"/>
          <a:lstStyle/>
          <a:p>
            <a:pPr marL="0" indent="0">
              <a:buNone/>
            </a:pPr>
            <a:r>
              <a:rPr lang="en-US" sz="1600" b="1" dirty="0">
                <a:solidFill>
                  <a:srgbClr val="B45309"/>
                </a:solidFill>
                <a:latin typeface="Century Schoolbook" pitchFamily="34" charset="0"/>
                <a:ea typeface="Century Schoolbook" pitchFamily="34" charset="-122"/>
                <a:cs typeface="Century Schoolbook" pitchFamily="34" charset="-120"/>
              </a:rPr>
              <a:t>AEON instead…</a:t>
            </a:r>
            <a:endParaRPr lang="en-US" sz="1600" dirty="0"/>
          </a:p>
        </p:txBody>
      </p:sp>
      <p:sp>
        <p:nvSpPr>
          <p:cNvPr id="15" name="Text 13"/>
          <p:cNvSpPr/>
          <p:nvPr/>
        </p:nvSpPr>
        <p:spPr>
          <a:xfrm>
            <a:off x="6507328" y="2834640"/>
            <a:ext cx="4861408" cy="320040"/>
          </a:xfrm>
          <a:prstGeom prst="rect">
            <a:avLst/>
          </a:prstGeom>
          <a:noFill/>
          <a:ln/>
        </p:spPr>
        <p:txBody>
          <a:bodyPr wrap="square" rtlCol="0" anchor="ctr"/>
          <a:lstStyle/>
          <a:p>
            <a:pPr marL="0" indent="0">
              <a:buNone/>
            </a:pPr>
            <a:r>
              <a:rPr lang="en-US" sz="1350" b="1" dirty="0">
                <a:solidFill>
                  <a:srgbClr val="B45309"/>
                </a:solidFill>
                <a:latin typeface="Arial" pitchFamily="34" charset="0"/>
                <a:ea typeface="Arial" pitchFamily="34" charset="-122"/>
                <a:cs typeface="Arial" pitchFamily="34" charset="-120"/>
              </a:rPr>
              <a:t>✓  </a:t>
            </a:r>
            <a:r>
              <a:rPr lang="en-US" sz="1350" dirty="0">
                <a:solidFill>
                  <a:srgbClr val="1A1C22"/>
                </a:solidFill>
                <a:latin typeface="Arial" pitchFamily="34" charset="0"/>
                <a:ea typeface="Arial" pitchFamily="34" charset="-122"/>
                <a:cs typeface="Arial" pitchFamily="34" charset="-120"/>
              </a:rPr>
              <a:t>grounds every claim in a cited record / ID</a:t>
            </a:r>
            <a:endParaRPr lang="en-US" sz="1350" dirty="0"/>
          </a:p>
        </p:txBody>
      </p:sp>
      <p:sp>
        <p:nvSpPr>
          <p:cNvPr id="16" name="Text 14"/>
          <p:cNvSpPr/>
          <p:nvPr/>
        </p:nvSpPr>
        <p:spPr>
          <a:xfrm>
            <a:off x="6507328" y="3218688"/>
            <a:ext cx="4861408" cy="320040"/>
          </a:xfrm>
          <a:prstGeom prst="rect">
            <a:avLst/>
          </a:prstGeom>
          <a:noFill/>
          <a:ln/>
        </p:spPr>
        <p:txBody>
          <a:bodyPr wrap="square" rtlCol="0" anchor="ctr"/>
          <a:lstStyle/>
          <a:p>
            <a:pPr marL="0" indent="0">
              <a:buNone/>
            </a:pPr>
            <a:r>
              <a:rPr lang="en-US" sz="1350" b="1" dirty="0">
                <a:solidFill>
                  <a:srgbClr val="B45309"/>
                </a:solidFill>
                <a:latin typeface="Arial" pitchFamily="34" charset="0"/>
                <a:ea typeface="Arial" pitchFamily="34" charset="-122"/>
                <a:cs typeface="Arial" pitchFamily="34" charset="-120"/>
              </a:rPr>
              <a:t>✓  </a:t>
            </a:r>
            <a:r>
              <a:rPr lang="en-US" sz="1350" dirty="0">
                <a:solidFill>
                  <a:srgbClr val="1A1C22"/>
                </a:solidFill>
                <a:latin typeface="Arial" pitchFamily="34" charset="0"/>
                <a:ea typeface="Arial" pitchFamily="34" charset="-122"/>
                <a:cs typeface="Arial" pitchFamily="34" charset="-120"/>
              </a:rPr>
              <a:t>plans tool calls to gather evidence first</a:t>
            </a:r>
            <a:endParaRPr lang="en-US" sz="1350" dirty="0"/>
          </a:p>
        </p:txBody>
      </p:sp>
      <p:sp>
        <p:nvSpPr>
          <p:cNvPr id="17" name="Text 15"/>
          <p:cNvSpPr/>
          <p:nvPr/>
        </p:nvSpPr>
        <p:spPr>
          <a:xfrm>
            <a:off x="6507328" y="3602736"/>
            <a:ext cx="4861408" cy="320040"/>
          </a:xfrm>
          <a:prstGeom prst="rect">
            <a:avLst/>
          </a:prstGeom>
          <a:noFill/>
          <a:ln/>
        </p:spPr>
        <p:txBody>
          <a:bodyPr wrap="square" rtlCol="0" anchor="ctr"/>
          <a:lstStyle/>
          <a:p>
            <a:pPr marL="0" indent="0">
              <a:buNone/>
            </a:pPr>
            <a:r>
              <a:rPr lang="en-US" sz="1350" b="1" dirty="0">
                <a:solidFill>
                  <a:srgbClr val="B45309"/>
                </a:solidFill>
                <a:latin typeface="Arial" pitchFamily="34" charset="0"/>
                <a:ea typeface="Arial" pitchFamily="34" charset="-122"/>
                <a:cs typeface="Arial" pitchFamily="34" charset="-120"/>
              </a:rPr>
              <a:t>✓  </a:t>
            </a:r>
            <a:r>
              <a:rPr lang="en-US" sz="1350" dirty="0">
                <a:solidFill>
                  <a:srgbClr val="1A1C22"/>
                </a:solidFill>
                <a:latin typeface="Arial" pitchFamily="34" charset="0"/>
                <a:ea typeface="Arial" pitchFamily="34" charset="-122"/>
                <a:cs typeface="Arial" pitchFamily="34" charset="-120"/>
              </a:rPr>
              <a:t>persists what it learns — memory outlives chat</a:t>
            </a:r>
            <a:endParaRPr lang="en-US" sz="1350" dirty="0"/>
          </a:p>
        </p:txBody>
      </p:sp>
      <p:sp>
        <p:nvSpPr>
          <p:cNvPr id="18" name="Shape 16"/>
          <p:cNvSpPr/>
          <p:nvPr/>
        </p:nvSpPr>
        <p:spPr>
          <a:xfrm>
            <a:off x="731520" y="4434840"/>
            <a:ext cx="10728655" cy="0"/>
          </a:xfrm>
          <a:prstGeom prst="line">
            <a:avLst/>
          </a:prstGeom>
          <a:noFill/>
          <a:ln w="12700">
            <a:solidFill>
              <a:srgbClr val="D9D8D2"/>
            </a:solidFill>
            <a:prstDash val="solid"/>
          </a:ln>
        </p:spPr>
      </p:sp>
      <p:sp>
        <p:nvSpPr>
          <p:cNvPr id="19" name="Text 17"/>
          <p:cNvSpPr/>
          <p:nvPr/>
        </p:nvSpPr>
        <p:spPr>
          <a:xfrm>
            <a:off x="731520" y="4572000"/>
            <a:ext cx="5486400" cy="274320"/>
          </a:xfrm>
          <a:prstGeom prst="rect">
            <a:avLst/>
          </a:prstGeom>
          <a:noFill/>
          <a:ln/>
        </p:spPr>
        <p:txBody>
          <a:bodyPr wrap="square" rtlCol="0" anchor="ctr"/>
          <a:lstStyle/>
          <a:p>
            <a:pPr marL="0" indent="0">
              <a:buNone/>
            </a:pPr>
            <a:r>
              <a:rPr lang="en-US" sz="1050" b="1" kern="0" spc="200" dirty="0">
                <a:solidFill>
                  <a:srgbClr val="5B5E66"/>
                </a:solidFill>
                <a:latin typeface="Courier New" pitchFamily="34" charset="0"/>
                <a:ea typeface="Courier New" pitchFamily="34" charset="-122"/>
                <a:cs typeface="Courier New" pitchFamily="34" charset="-120"/>
              </a:rPr>
              <a:t>HONEST BY CONSTRUCTION</a:t>
            </a:r>
            <a:endParaRPr lang="en-US" sz="1050" dirty="0"/>
          </a:p>
        </p:txBody>
      </p:sp>
      <p:sp>
        <p:nvSpPr>
          <p:cNvPr id="20" name="Text 18"/>
          <p:cNvSpPr/>
          <p:nvPr/>
        </p:nvSpPr>
        <p:spPr>
          <a:xfrm>
            <a:off x="731520" y="4937760"/>
            <a:ext cx="3332378" cy="320040"/>
          </a:xfrm>
          <a:prstGeom prst="rect">
            <a:avLst/>
          </a:prstGeom>
          <a:noFill/>
          <a:ln/>
        </p:spPr>
        <p:txBody>
          <a:bodyPr wrap="square" rtlCol="0" anchor="ctr"/>
          <a:lstStyle/>
          <a:p>
            <a:pPr marL="0" indent="0">
              <a:buNone/>
            </a:pPr>
            <a:r>
              <a:rPr lang="en-US" sz="1550" b="1" dirty="0">
                <a:solidFill>
                  <a:srgbClr val="B45309"/>
                </a:solidFill>
                <a:latin typeface="Century Schoolbook" pitchFamily="34" charset="0"/>
                <a:ea typeface="Century Schoolbook" pitchFamily="34" charset="-122"/>
                <a:cs typeface="Century Schoolbook" pitchFamily="34" charset="-120"/>
              </a:rPr>
              <a:t>Deterministic control</a:t>
            </a:r>
            <a:endParaRPr lang="en-US" sz="1550" dirty="0"/>
          </a:p>
        </p:txBody>
      </p:sp>
      <p:sp>
        <p:nvSpPr>
          <p:cNvPr id="21" name="Text 19"/>
          <p:cNvSpPr/>
          <p:nvPr/>
        </p:nvSpPr>
        <p:spPr>
          <a:xfrm>
            <a:off x="731520" y="5303520"/>
            <a:ext cx="3332378" cy="822960"/>
          </a:xfrm>
          <a:prstGeom prst="rect">
            <a:avLst/>
          </a:prstGeom>
          <a:noFill/>
          <a:ln/>
        </p:spPr>
        <p:txBody>
          <a:bodyPr wrap="square" rtlCol="0" anchor="t"/>
          <a:lstStyle/>
          <a:p>
            <a:pPr marL="0" indent="0">
              <a:lnSpc>
                <a:spcPct val="115000"/>
              </a:lnSpc>
              <a:buNone/>
            </a:pPr>
            <a:r>
              <a:rPr lang="en-US" sz="1150" dirty="0">
                <a:solidFill>
                  <a:srgbClr val="5B5E66"/>
                </a:solidFill>
                <a:latin typeface="Arial" pitchFamily="34" charset="0"/>
                <a:ea typeface="Arial" pitchFamily="34" charset="-122"/>
                <a:cs typeface="Arial" pitchFamily="34" charset="-120"/>
              </a:rPr>
              <a:t>LangGraph state machine — bounded, reproducible, debuggable</a:t>
            </a:r>
            <a:endParaRPr lang="en-US" sz="1150" dirty="0"/>
          </a:p>
        </p:txBody>
      </p:sp>
      <p:sp>
        <p:nvSpPr>
          <p:cNvPr id="22" name="Text 20"/>
          <p:cNvSpPr/>
          <p:nvPr/>
        </p:nvSpPr>
        <p:spPr>
          <a:xfrm>
            <a:off x="4429658" y="4937760"/>
            <a:ext cx="3332378" cy="320040"/>
          </a:xfrm>
          <a:prstGeom prst="rect">
            <a:avLst/>
          </a:prstGeom>
          <a:noFill/>
          <a:ln/>
        </p:spPr>
        <p:txBody>
          <a:bodyPr wrap="square" rtlCol="0" anchor="ctr"/>
          <a:lstStyle/>
          <a:p>
            <a:pPr marL="0" indent="0">
              <a:buNone/>
            </a:pPr>
            <a:r>
              <a:rPr lang="en-US" sz="1550" b="1" dirty="0">
                <a:solidFill>
                  <a:srgbClr val="0F6E68"/>
                </a:solidFill>
                <a:latin typeface="Century Schoolbook" pitchFamily="34" charset="0"/>
                <a:ea typeface="Century Schoolbook" pitchFamily="34" charset="-122"/>
                <a:cs typeface="Century Schoolbook" pitchFamily="34" charset="-120"/>
              </a:rPr>
              <a:t>Confidence ceiling ≤ 70</a:t>
            </a:r>
            <a:endParaRPr lang="en-US" sz="1550" dirty="0"/>
          </a:p>
        </p:txBody>
      </p:sp>
      <p:sp>
        <p:nvSpPr>
          <p:cNvPr id="23" name="Text 21"/>
          <p:cNvSpPr/>
          <p:nvPr/>
        </p:nvSpPr>
        <p:spPr>
          <a:xfrm>
            <a:off x="4429658" y="5303520"/>
            <a:ext cx="3332378" cy="822960"/>
          </a:xfrm>
          <a:prstGeom prst="rect">
            <a:avLst/>
          </a:prstGeom>
          <a:noFill/>
          <a:ln/>
        </p:spPr>
        <p:txBody>
          <a:bodyPr wrap="square" rtlCol="0" anchor="t"/>
          <a:lstStyle/>
          <a:p>
            <a:pPr marL="0" indent="0">
              <a:lnSpc>
                <a:spcPct val="115000"/>
              </a:lnSpc>
              <a:buNone/>
            </a:pPr>
            <a:r>
              <a:rPr lang="en-US" sz="1150" dirty="0">
                <a:solidFill>
                  <a:srgbClr val="5B5E66"/>
                </a:solidFill>
                <a:latin typeface="Arial" pitchFamily="34" charset="0"/>
                <a:ea typeface="Arial" pitchFamily="34" charset="-122"/>
                <a:cs typeface="Arial" pitchFamily="34" charset="-120"/>
              </a:rPr>
              <a:t>probabilistic language; never fakes certainty it lacks</a:t>
            </a:r>
            <a:endParaRPr lang="en-US" sz="1150" dirty="0"/>
          </a:p>
        </p:txBody>
      </p:sp>
      <p:sp>
        <p:nvSpPr>
          <p:cNvPr id="24" name="Text 22"/>
          <p:cNvSpPr/>
          <p:nvPr/>
        </p:nvSpPr>
        <p:spPr>
          <a:xfrm>
            <a:off x="8127797" y="4937760"/>
            <a:ext cx="3332378" cy="320040"/>
          </a:xfrm>
          <a:prstGeom prst="rect">
            <a:avLst/>
          </a:prstGeom>
          <a:noFill/>
          <a:ln/>
        </p:spPr>
        <p:txBody>
          <a:bodyPr wrap="square" rtlCol="0" anchor="ctr"/>
          <a:lstStyle/>
          <a:p>
            <a:pPr marL="0" indent="0">
              <a:buNone/>
            </a:pPr>
            <a:r>
              <a:rPr lang="en-US" sz="1550" b="1" dirty="0">
                <a:solidFill>
                  <a:srgbClr val="B45309"/>
                </a:solidFill>
                <a:latin typeface="Century Schoolbook" pitchFamily="34" charset="0"/>
                <a:ea typeface="Century Schoolbook" pitchFamily="34" charset="-122"/>
                <a:cs typeface="Century Schoolbook" pitchFamily="34" charset="-120"/>
              </a:rPr>
              <a:t>Flags stale fixes</a:t>
            </a:r>
            <a:endParaRPr lang="en-US" sz="1550" dirty="0"/>
          </a:p>
        </p:txBody>
      </p:sp>
      <p:sp>
        <p:nvSpPr>
          <p:cNvPr id="25" name="Text 23"/>
          <p:cNvSpPr/>
          <p:nvPr/>
        </p:nvSpPr>
        <p:spPr>
          <a:xfrm>
            <a:off x="8127797" y="5303520"/>
            <a:ext cx="3332378" cy="822960"/>
          </a:xfrm>
          <a:prstGeom prst="rect">
            <a:avLst/>
          </a:prstGeom>
          <a:noFill/>
          <a:ln/>
        </p:spPr>
        <p:txBody>
          <a:bodyPr wrap="square" rtlCol="0" anchor="t"/>
          <a:lstStyle/>
          <a:p>
            <a:pPr marL="0" indent="0">
              <a:lnSpc>
                <a:spcPct val="115000"/>
              </a:lnSpc>
              <a:buNone/>
            </a:pPr>
            <a:r>
              <a:rPr lang="en-US" sz="1150" dirty="0">
                <a:solidFill>
                  <a:srgbClr val="5B5E66"/>
                </a:solidFill>
                <a:latin typeface="Arial" pitchFamily="34" charset="0"/>
                <a:ea typeface="Arial" pitchFamily="34" charset="-122"/>
                <a:cs typeface="Arial" pitchFamily="34" charset="-120"/>
              </a:rPr>
              <a:t>recency-weighted — old evidence is surfaced as old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05</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05</a:t>
            </a:r>
            <a:r>
              <a:rPr lang="en-US" sz="1150" b="1" kern="0" spc="200" dirty="0">
                <a:solidFill>
                  <a:srgbClr val="3A3D45"/>
                </a:solidFill>
                <a:latin typeface="Courier New" pitchFamily="34" charset="0"/>
                <a:ea typeface="Courier New" pitchFamily="34" charset="-122"/>
                <a:cs typeface="Courier New" pitchFamily="34" charset="-120"/>
              </a:rPr>
              <a:t>  —  AI IMPLEMENTATION</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05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The AI, engineered in — not bolted on.</a:t>
            </a:r>
            <a:endParaRPr lang="en-US" sz="3300" dirty="0"/>
          </a:p>
        </p:txBody>
      </p:sp>
      <p:sp>
        <p:nvSpPr>
          <p:cNvPr id="9" name="Text 7"/>
          <p:cNvSpPr/>
          <p:nvPr/>
        </p:nvSpPr>
        <p:spPr>
          <a:xfrm>
            <a:off x="731520" y="1965960"/>
            <a:ext cx="10728655" cy="365760"/>
          </a:xfrm>
          <a:prstGeom prst="rect">
            <a:avLst/>
          </a:prstGeom>
          <a:noFill/>
          <a:ln/>
        </p:spPr>
        <p:txBody>
          <a:bodyPr wrap="square" rtlCol="0" anchor="ctr"/>
          <a:lstStyle/>
          <a:p>
            <a:pPr marL="0" indent="0" algn="l">
              <a:buNone/>
            </a:pPr>
            <a:r>
              <a:rPr lang="en-US" sz="1400" b="1" dirty="0">
                <a:solidFill>
                  <a:srgbClr val="0A524D"/>
                </a:solidFill>
                <a:latin typeface="Courier New" pitchFamily="34" charset="0"/>
                <a:ea typeface="Courier New" pitchFamily="34" charset="-122"/>
                <a:cs typeface="Courier New" pitchFamily="34" charset="-120"/>
              </a:rPr>
              <a:t>search_memory </a:t>
            </a:r>
            <a:r>
              <a:rPr lang="en-US" sz="1400" b="1" dirty="0">
                <a:solidFill>
                  <a:srgbClr val="9A9CA1"/>
                </a:solidFill>
                <a:latin typeface="Courier New" pitchFamily="34" charset="0"/>
                <a:ea typeface="Courier New" pitchFamily="34" charset="-122"/>
                <a:cs typeface="Courier New" pitchFamily="34" charset="-120"/>
              </a:rPr>
              <a:t>→ </a:t>
            </a:r>
            <a:r>
              <a:rPr lang="en-US" sz="1400" b="1" dirty="0">
                <a:solidFill>
                  <a:srgbClr val="8A3F07"/>
                </a:solidFill>
                <a:latin typeface="Courier New" pitchFamily="34" charset="0"/>
                <a:ea typeface="Courier New" pitchFamily="34" charset="-122"/>
                <a:cs typeface="Courier New" pitchFamily="34" charset="-120"/>
              </a:rPr>
              <a:t>call_agent </a:t>
            </a:r>
            <a:r>
              <a:rPr lang="en-US" sz="1400" b="1" dirty="0">
                <a:solidFill>
                  <a:srgbClr val="9A9CA1"/>
                </a:solidFill>
                <a:latin typeface="Courier New" pitchFamily="34" charset="0"/>
                <a:ea typeface="Courier New" pitchFamily="34" charset="-122"/>
                <a:cs typeface="Courier New" pitchFamily="34" charset="-120"/>
              </a:rPr>
              <a:t>⇄ </a:t>
            </a:r>
            <a:r>
              <a:rPr lang="en-US" sz="1400" b="1" dirty="0">
                <a:solidFill>
                  <a:srgbClr val="8A3F07"/>
                </a:solidFill>
                <a:latin typeface="Courier New" pitchFamily="34" charset="0"/>
                <a:ea typeface="Courier New" pitchFamily="34" charset="-122"/>
                <a:cs typeface="Courier New" pitchFamily="34" charset="-120"/>
              </a:rPr>
              <a:t>execute_tools </a:t>
            </a:r>
            <a:r>
              <a:rPr lang="en-US" sz="1400" b="1" dirty="0">
                <a:solidFill>
                  <a:srgbClr val="9A9CA1"/>
                </a:solidFill>
                <a:latin typeface="Courier New" pitchFamily="34" charset="0"/>
                <a:ea typeface="Courier New" pitchFamily="34" charset="-122"/>
                <a:cs typeface="Courier New" pitchFamily="34" charset="-120"/>
              </a:rPr>
              <a:t>→ </a:t>
            </a:r>
            <a:r>
              <a:rPr lang="en-US" sz="1400" b="1" dirty="0">
                <a:solidFill>
                  <a:srgbClr val="1A1C22"/>
                </a:solidFill>
                <a:latin typeface="Courier New" pitchFamily="34" charset="0"/>
                <a:ea typeface="Courier New" pitchFamily="34" charset="-122"/>
                <a:cs typeface="Courier New" pitchFamily="34" charset="-120"/>
              </a:rPr>
              <a:t>synthesize </a:t>
            </a:r>
            <a:r>
              <a:rPr lang="en-US" sz="1400" b="1" dirty="0">
                <a:solidFill>
                  <a:srgbClr val="9A9CA1"/>
                </a:solidFill>
                <a:latin typeface="Courier New" pitchFamily="34" charset="0"/>
                <a:ea typeface="Courier New" pitchFamily="34" charset="-122"/>
                <a:cs typeface="Courier New" pitchFamily="34" charset="-120"/>
              </a:rPr>
              <a:t>→ </a:t>
            </a:r>
            <a:r>
              <a:rPr lang="en-US" sz="1400" b="1" dirty="0">
                <a:solidFill>
                  <a:srgbClr val="0A524D"/>
                </a:solidFill>
                <a:latin typeface="Courier New" pitchFamily="34" charset="0"/>
                <a:ea typeface="Courier New" pitchFamily="34" charset="-122"/>
                <a:cs typeface="Courier New" pitchFamily="34" charset="-120"/>
              </a:rPr>
              <a:t>memory_writer</a:t>
            </a:r>
            <a:endParaRPr lang="en-US" sz="1400" dirty="0"/>
          </a:p>
        </p:txBody>
      </p:sp>
      <p:sp>
        <p:nvSpPr>
          <p:cNvPr id="10" name="Text 8"/>
          <p:cNvSpPr/>
          <p:nvPr/>
        </p:nvSpPr>
        <p:spPr>
          <a:xfrm>
            <a:off x="731520" y="2377440"/>
            <a:ext cx="10728655" cy="274320"/>
          </a:xfrm>
          <a:prstGeom prst="rect">
            <a:avLst/>
          </a:prstGeom>
          <a:noFill/>
          <a:ln/>
        </p:spPr>
        <p:txBody>
          <a:bodyPr wrap="square" rtlCol="0" anchor="ctr"/>
          <a:lstStyle/>
          <a:p>
            <a:pPr marL="0" indent="0">
              <a:buNone/>
            </a:pPr>
            <a:r>
              <a:rPr lang="en-US" sz="1000" dirty="0">
                <a:solidFill>
                  <a:srgbClr val="9A9CA1"/>
                </a:solidFill>
                <a:latin typeface="Courier New" pitchFamily="34" charset="0"/>
                <a:ea typeface="Courier New" pitchFamily="34" charset="-122"/>
                <a:cs typeface="Courier New" pitchFamily="34" charset="-120"/>
              </a:rPr>
              <a:t>bounded · 8 iterations quick / 15 deep-research    ·    8 typed tools (DevOps) / 5 (Automotive)</a:t>
            </a:r>
            <a:endParaRPr lang="en-US" sz="1000" dirty="0"/>
          </a:p>
        </p:txBody>
      </p:sp>
      <p:sp>
        <p:nvSpPr>
          <p:cNvPr id="11" name="Shape 9"/>
          <p:cNvSpPr/>
          <p:nvPr/>
        </p:nvSpPr>
        <p:spPr>
          <a:xfrm>
            <a:off x="731520" y="2788920"/>
            <a:ext cx="10728655" cy="0"/>
          </a:xfrm>
          <a:prstGeom prst="line">
            <a:avLst/>
          </a:prstGeom>
          <a:noFill/>
          <a:ln w="12700">
            <a:solidFill>
              <a:srgbClr val="D9D8D2"/>
            </a:solidFill>
            <a:prstDash val="solid"/>
          </a:ln>
        </p:spPr>
      </p:sp>
      <p:sp>
        <p:nvSpPr>
          <p:cNvPr id="12" name="Shape 10"/>
          <p:cNvSpPr/>
          <p:nvPr/>
        </p:nvSpPr>
        <p:spPr>
          <a:xfrm>
            <a:off x="731520" y="3044952"/>
            <a:ext cx="10728655" cy="0"/>
          </a:xfrm>
          <a:prstGeom prst="line">
            <a:avLst/>
          </a:prstGeom>
          <a:noFill/>
          <a:ln w="9525">
            <a:solidFill>
              <a:srgbClr val="D9D8D2"/>
            </a:solidFill>
            <a:prstDash val="solid"/>
          </a:ln>
        </p:spPr>
      </p:sp>
      <p:sp>
        <p:nvSpPr>
          <p:cNvPr id="13" name="Text 11"/>
          <p:cNvSpPr/>
          <p:nvPr/>
        </p:nvSpPr>
        <p:spPr>
          <a:xfrm>
            <a:off x="731520" y="3209544"/>
            <a:ext cx="3332378" cy="292608"/>
          </a:xfrm>
          <a:prstGeom prst="rect">
            <a:avLst/>
          </a:prstGeom>
          <a:noFill/>
          <a:ln/>
        </p:spPr>
        <p:txBody>
          <a:bodyPr wrap="square" rtlCol="0" anchor="ctr"/>
          <a:lstStyle/>
          <a:p>
            <a:pPr marL="0" indent="0">
              <a:buNone/>
            </a:pPr>
            <a:r>
              <a:rPr lang="en-US" sz="1300" b="1" dirty="0">
                <a:solidFill>
                  <a:srgbClr val="B45309"/>
                </a:solidFill>
                <a:latin typeface="Arial" pitchFamily="34" charset="0"/>
                <a:ea typeface="Arial" pitchFamily="34" charset="-122"/>
                <a:cs typeface="Arial" pitchFamily="34" charset="-120"/>
              </a:rPr>
              <a:t>01  </a:t>
            </a:r>
            <a:r>
              <a:rPr lang="en-US" sz="1300" b="1" dirty="0">
                <a:solidFill>
                  <a:srgbClr val="1A1C22"/>
                </a:solidFill>
                <a:latin typeface="Arial" pitchFamily="34" charset="0"/>
                <a:ea typeface="Arial" pitchFamily="34" charset="-122"/>
                <a:cs typeface="Arial" pitchFamily="34" charset="-120"/>
              </a:rPr>
              <a:t>Agentic RAG</a:t>
            </a:r>
            <a:endParaRPr lang="en-US" sz="1300" dirty="0"/>
          </a:p>
        </p:txBody>
      </p:sp>
      <p:sp>
        <p:nvSpPr>
          <p:cNvPr id="14" name="Text 12"/>
          <p:cNvSpPr/>
          <p:nvPr/>
        </p:nvSpPr>
        <p:spPr>
          <a:xfrm>
            <a:off x="1115568" y="3520440"/>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plans tool calls to gather evidence before answering</a:t>
            </a:r>
            <a:endParaRPr lang="en-US" sz="1050" dirty="0"/>
          </a:p>
        </p:txBody>
      </p:sp>
      <p:sp>
        <p:nvSpPr>
          <p:cNvPr id="15" name="Text 13"/>
          <p:cNvSpPr/>
          <p:nvPr/>
        </p:nvSpPr>
        <p:spPr>
          <a:xfrm>
            <a:off x="4429658" y="3209544"/>
            <a:ext cx="3332378" cy="292608"/>
          </a:xfrm>
          <a:prstGeom prst="rect">
            <a:avLst/>
          </a:prstGeom>
          <a:noFill/>
          <a:ln/>
        </p:spPr>
        <p:txBody>
          <a:bodyPr wrap="square" rtlCol="0" anchor="ctr"/>
          <a:lstStyle/>
          <a:p>
            <a:pPr marL="0" indent="0">
              <a:buNone/>
            </a:pPr>
            <a:r>
              <a:rPr lang="en-US" sz="1300" b="1" dirty="0">
                <a:solidFill>
                  <a:srgbClr val="0F6E68"/>
                </a:solidFill>
                <a:latin typeface="Arial" pitchFamily="34" charset="0"/>
                <a:ea typeface="Arial" pitchFamily="34" charset="-122"/>
                <a:cs typeface="Arial" pitchFamily="34" charset="-120"/>
              </a:rPr>
              <a:t>02  </a:t>
            </a:r>
            <a:r>
              <a:rPr lang="en-US" sz="1300" b="1" dirty="0">
                <a:solidFill>
                  <a:srgbClr val="1A1C22"/>
                </a:solidFill>
                <a:latin typeface="Arial" pitchFamily="34" charset="0"/>
                <a:ea typeface="Arial" pitchFamily="34" charset="-122"/>
                <a:cs typeface="Arial" pitchFamily="34" charset="-120"/>
              </a:rPr>
              <a:t>GraphRAG</a:t>
            </a:r>
            <a:endParaRPr lang="en-US" sz="1300" dirty="0"/>
          </a:p>
        </p:txBody>
      </p:sp>
      <p:sp>
        <p:nvSpPr>
          <p:cNvPr id="16" name="Text 14"/>
          <p:cNvSpPr/>
          <p:nvPr/>
        </p:nvSpPr>
        <p:spPr>
          <a:xfrm>
            <a:off x="4813706" y="3520440"/>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multi-hop traversal: modes → mitigations → downstream</a:t>
            </a:r>
            <a:endParaRPr lang="en-US" sz="1050" dirty="0"/>
          </a:p>
        </p:txBody>
      </p:sp>
      <p:sp>
        <p:nvSpPr>
          <p:cNvPr id="17" name="Text 15"/>
          <p:cNvSpPr/>
          <p:nvPr/>
        </p:nvSpPr>
        <p:spPr>
          <a:xfrm>
            <a:off x="8127797" y="3209544"/>
            <a:ext cx="3332378" cy="292608"/>
          </a:xfrm>
          <a:prstGeom prst="rect">
            <a:avLst/>
          </a:prstGeom>
          <a:noFill/>
          <a:ln/>
        </p:spPr>
        <p:txBody>
          <a:bodyPr wrap="square" rtlCol="0" anchor="ctr"/>
          <a:lstStyle/>
          <a:p>
            <a:pPr marL="0" indent="0">
              <a:buNone/>
            </a:pPr>
            <a:r>
              <a:rPr lang="en-US" sz="1300" b="1" dirty="0">
                <a:solidFill>
                  <a:srgbClr val="3A3D45"/>
                </a:solidFill>
                <a:latin typeface="Arial" pitchFamily="34" charset="0"/>
                <a:ea typeface="Arial" pitchFamily="34" charset="-122"/>
                <a:cs typeface="Arial" pitchFamily="34" charset="-120"/>
              </a:rPr>
              <a:t>03  </a:t>
            </a:r>
            <a:r>
              <a:rPr lang="en-US" sz="1300" b="1" dirty="0">
                <a:solidFill>
                  <a:srgbClr val="1A1C22"/>
                </a:solidFill>
                <a:latin typeface="Arial" pitchFamily="34" charset="0"/>
                <a:ea typeface="Arial" pitchFamily="34" charset="-122"/>
                <a:cs typeface="Arial" pitchFamily="34" charset="-120"/>
              </a:rPr>
              <a:t>Hybrid retrieve-rerank</a:t>
            </a:r>
            <a:endParaRPr lang="en-US" sz="1300" dirty="0"/>
          </a:p>
        </p:txBody>
      </p:sp>
      <p:sp>
        <p:nvSpPr>
          <p:cNvPr id="18" name="Text 16"/>
          <p:cNvSpPr/>
          <p:nvPr/>
        </p:nvSpPr>
        <p:spPr>
          <a:xfrm>
            <a:off x="8511845" y="3520440"/>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dense vectors fused with structured field agreement</a:t>
            </a:r>
            <a:endParaRPr lang="en-US" sz="1050" dirty="0"/>
          </a:p>
        </p:txBody>
      </p:sp>
      <p:sp>
        <p:nvSpPr>
          <p:cNvPr id="19" name="Shape 17"/>
          <p:cNvSpPr/>
          <p:nvPr/>
        </p:nvSpPr>
        <p:spPr>
          <a:xfrm>
            <a:off x="731520" y="4032504"/>
            <a:ext cx="10728655" cy="0"/>
          </a:xfrm>
          <a:prstGeom prst="line">
            <a:avLst/>
          </a:prstGeom>
          <a:noFill/>
          <a:ln w="9525">
            <a:solidFill>
              <a:srgbClr val="D9D8D2"/>
            </a:solidFill>
            <a:prstDash val="solid"/>
          </a:ln>
        </p:spPr>
      </p:sp>
      <p:sp>
        <p:nvSpPr>
          <p:cNvPr id="20" name="Text 18"/>
          <p:cNvSpPr/>
          <p:nvPr/>
        </p:nvSpPr>
        <p:spPr>
          <a:xfrm>
            <a:off x="731520" y="4197096"/>
            <a:ext cx="3332378" cy="292608"/>
          </a:xfrm>
          <a:prstGeom prst="rect">
            <a:avLst/>
          </a:prstGeom>
          <a:noFill/>
          <a:ln/>
        </p:spPr>
        <p:txBody>
          <a:bodyPr wrap="square" rtlCol="0" anchor="ctr"/>
          <a:lstStyle/>
          <a:p>
            <a:pPr marL="0" indent="0">
              <a:buNone/>
            </a:pPr>
            <a:r>
              <a:rPr lang="en-US" sz="1300" b="1" dirty="0">
                <a:solidFill>
                  <a:srgbClr val="B45309"/>
                </a:solidFill>
                <a:latin typeface="Arial" pitchFamily="34" charset="0"/>
                <a:ea typeface="Arial" pitchFamily="34" charset="-122"/>
                <a:cs typeface="Arial" pitchFamily="34" charset="-120"/>
              </a:rPr>
              <a:t>04  </a:t>
            </a:r>
            <a:r>
              <a:rPr lang="en-US" sz="1300" b="1" dirty="0">
                <a:solidFill>
                  <a:srgbClr val="1A1C22"/>
                </a:solidFill>
                <a:latin typeface="Arial" pitchFamily="34" charset="0"/>
                <a:ea typeface="Arial" pitchFamily="34" charset="-122"/>
                <a:cs typeface="Arial" pitchFamily="34" charset="-120"/>
              </a:rPr>
              <a:t>Tool / function calling</a:t>
            </a:r>
            <a:endParaRPr lang="en-US" sz="1300" dirty="0"/>
          </a:p>
        </p:txBody>
      </p:sp>
      <p:sp>
        <p:nvSpPr>
          <p:cNvPr id="21" name="Text 19"/>
          <p:cNvSpPr/>
          <p:nvPr/>
        </p:nvSpPr>
        <p:spPr>
          <a:xfrm>
            <a:off x="1115568" y="4507992"/>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typed tools with JSON schemas, streamed</a:t>
            </a:r>
            <a:endParaRPr lang="en-US" sz="1050" dirty="0"/>
          </a:p>
        </p:txBody>
      </p:sp>
      <p:sp>
        <p:nvSpPr>
          <p:cNvPr id="22" name="Text 20"/>
          <p:cNvSpPr/>
          <p:nvPr/>
        </p:nvSpPr>
        <p:spPr>
          <a:xfrm>
            <a:off x="4429658" y="4197096"/>
            <a:ext cx="3332378" cy="292608"/>
          </a:xfrm>
          <a:prstGeom prst="rect">
            <a:avLst/>
          </a:prstGeom>
          <a:noFill/>
          <a:ln/>
        </p:spPr>
        <p:txBody>
          <a:bodyPr wrap="square" rtlCol="0" anchor="ctr"/>
          <a:lstStyle/>
          <a:p>
            <a:pPr marL="0" indent="0">
              <a:buNone/>
            </a:pPr>
            <a:r>
              <a:rPr lang="en-US" sz="1300" b="1" dirty="0">
                <a:solidFill>
                  <a:srgbClr val="0F6E68"/>
                </a:solidFill>
                <a:latin typeface="Arial" pitchFamily="34" charset="0"/>
                <a:ea typeface="Arial" pitchFamily="34" charset="-122"/>
                <a:cs typeface="Arial" pitchFamily="34" charset="-120"/>
              </a:rPr>
              <a:t>05  </a:t>
            </a:r>
            <a:r>
              <a:rPr lang="en-US" sz="1300" b="1" dirty="0">
                <a:solidFill>
                  <a:srgbClr val="1A1C22"/>
                </a:solidFill>
                <a:latin typeface="Arial" pitchFamily="34" charset="0"/>
                <a:ea typeface="Arial" pitchFamily="34" charset="-122"/>
                <a:cs typeface="Arial" pitchFamily="34" charset="-120"/>
              </a:rPr>
              <a:t>Vector + ANN search</a:t>
            </a:r>
            <a:endParaRPr lang="en-US" sz="1300" dirty="0"/>
          </a:p>
        </p:txBody>
      </p:sp>
      <p:sp>
        <p:nvSpPr>
          <p:cNvPr id="23" name="Text 21"/>
          <p:cNvSpPr/>
          <p:nvPr/>
        </p:nvSpPr>
        <p:spPr>
          <a:xfrm>
            <a:off x="4813706" y="4507992"/>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ChromaDB approximate-nearest-neighbour recall</a:t>
            </a:r>
            <a:endParaRPr lang="en-US" sz="1050" dirty="0"/>
          </a:p>
        </p:txBody>
      </p:sp>
      <p:sp>
        <p:nvSpPr>
          <p:cNvPr id="24" name="Text 22"/>
          <p:cNvSpPr/>
          <p:nvPr/>
        </p:nvSpPr>
        <p:spPr>
          <a:xfrm>
            <a:off x="8127797" y="4197096"/>
            <a:ext cx="3332378" cy="292608"/>
          </a:xfrm>
          <a:prstGeom prst="rect">
            <a:avLst/>
          </a:prstGeom>
          <a:noFill/>
          <a:ln/>
        </p:spPr>
        <p:txBody>
          <a:bodyPr wrap="square" rtlCol="0" anchor="ctr"/>
          <a:lstStyle/>
          <a:p>
            <a:pPr marL="0" indent="0">
              <a:buNone/>
            </a:pPr>
            <a:r>
              <a:rPr lang="en-US" sz="1300" b="1" dirty="0">
                <a:solidFill>
                  <a:srgbClr val="3A3D45"/>
                </a:solidFill>
                <a:latin typeface="Arial" pitchFamily="34" charset="0"/>
                <a:ea typeface="Arial" pitchFamily="34" charset="-122"/>
                <a:cs typeface="Arial" pitchFamily="34" charset="-120"/>
              </a:rPr>
              <a:t>06  </a:t>
            </a:r>
            <a:r>
              <a:rPr lang="en-US" sz="1300" b="1" dirty="0">
                <a:solidFill>
                  <a:srgbClr val="1A1C22"/>
                </a:solidFill>
                <a:latin typeface="Arial" pitchFamily="34" charset="0"/>
                <a:ea typeface="Arial" pitchFamily="34" charset="-122"/>
                <a:cs typeface="Arial" pitchFamily="34" charset="-120"/>
              </a:rPr>
              <a:t>Property-graph KB</a:t>
            </a:r>
            <a:endParaRPr lang="en-US" sz="1300" dirty="0"/>
          </a:p>
        </p:txBody>
      </p:sp>
      <p:sp>
        <p:nvSpPr>
          <p:cNvPr id="25" name="Text 23"/>
          <p:cNvSpPr/>
          <p:nvPr/>
        </p:nvSpPr>
        <p:spPr>
          <a:xfrm>
            <a:off x="8511845" y="4507992"/>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Neo4j entities + relations, Cypher MERGE upserts</a:t>
            </a:r>
            <a:endParaRPr lang="en-US" sz="1050" dirty="0"/>
          </a:p>
        </p:txBody>
      </p:sp>
      <p:sp>
        <p:nvSpPr>
          <p:cNvPr id="26" name="Shape 24"/>
          <p:cNvSpPr/>
          <p:nvPr/>
        </p:nvSpPr>
        <p:spPr>
          <a:xfrm>
            <a:off x="731520" y="5020056"/>
            <a:ext cx="10728655" cy="0"/>
          </a:xfrm>
          <a:prstGeom prst="line">
            <a:avLst/>
          </a:prstGeom>
          <a:noFill/>
          <a:ln w="9525">
            <a:solidFill>
              <a:srgbClr val="D9D8D2"/>
            </a:solidFill>
            <a:prstDash val="solid"/>
          </a:ln>
        </p:spPr>
      </p:sp>
      <p:sp>
        <p:nvSpPr>
          <p:cNvPr id="27" name="Text 25"/>
          <p:cNvSpPr/>
          <p:nvPr/>
        </p:nvSpPr>
        <p:spPr>
          <a:xfrm>
            <a:off x="731520" y="5184648"/>
            <a:ext cx="3332378" cy="292608"/>
          </a:xfrm>
          <a:prstGeom prst="rect">
            <a:avLst/>
          </a:prstGeom>
          <a:noFill/>
          <a:ln/>
        </p:spPr>
        <p:txBody>
          <a:bodyPr wrap="square" rtlCol="0" anchor="ctr"/>
          <a:lstStyle/>
          <a:p>
            <a:pPr marL="0" indent="0">
              <a:buNone/>
            </a:pPr>
            <a:r>
              <a:rPr lang="en-US" sz="1300" b="1" dirty="0">
                <a:solidFill>
                  <a:srgbClr val="B45309"/>
                </a:solidFill>
                <a:latin typeface="Arial" pitchFamily="34" charset="0"/>
                <a:ea typeface="Arial" pitchFamily="34" charset="-122"/>
                <a:cs typeface="Arial" pitchFamily="34" charset="-120"/>
              </a:rPr>
              <a:t>07  </a:t>
            </a:r>
            <a:r>
              <a:rPr lang="en-US" sz="1300" b="1" dirty="0">
                <a:solidFill>
                  <a:srgbClr val="1A1C22"/>
                </a:solidFill>
                <a:latin typeface="Arial" pitchFamily="34" charset="0"/>
                <a:ea typeface="Arial" pitchFamily="34" charset="-122"/>
                <a:cs typeface="Arial" pitchFamily="34" charset="-120"/>
              </a:rPr>
              <a:t>Recency-weighted scoring</a:t>
            </a:r>
            <a:endParaRPr lang="en-US" sz="1300" dirty="0"/>
          </a:p>
        </p:txBody>
      </p:sp>
      <p:sp>
        <p:nvSpPr>
          <p:cNvPr id="28" name="Text 26"/>
          <p:cNvSpPr/>
          <p:nvPr/>
        </p:nvSpPr>
        <p:spPr>
          <a:xfrm>
            <a:off x="1115568" y="5495544"/>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temporal decay — recent failures rank higher</a:t>
            </a:r>
            <a:endParaRPr lang="en-US" sz="1050" dirty="0"/>
          </a:p>
        </p:txBody>
      </p:sp>
      <p:sp>
        <p:nvSpPr>
          <p:cNvPr id="29" name="Text 27"/>
          <p:cNvSpPr/>
          <p:nvPr/>
        </p:nvSpPr>
        <p:spPr>
          <a:xfrm>
            <a:off x="4429658" y="5184648"/>
            <a:ext cx="3332378" cy="292608"/>
          </a:xfrm>
          <a:prstGeom prst="rect">
            <a:avLst/>
          </a:prstGeom>
          <a:noFill/>
          <a:ln/>
        </p:spPr>
        <p:txBody>
          <a:bodyPr wrap="square" rtlCol="0" anchor="ctr"/>
          <a:lstStyle/>
          <a:p>
            <a:pPr marL="0" indent="0">
              <a:buNone/>
            </a:pPr>
            <a:r>
              <a:rPr lang="en-US" sz="1300" b="1" dirty="0">
                <a:solidFill>
                  <a:srgbClr val="0F6E68"/>
                </a:solidFill>
                <a:latin typeface="Arial" pitchFamily="34" charset="0"/>
                <a:ea typeface="Arial" pitchFamily="34" charset="-122"/>
                <a:cs typeface="Arial" pitchFamily="34" charset="-120"/>
              </a:rPr>
              <a:t>08  </a:t>
            </a:r>
            <a:r>
              <a:rPr lang="en-US" sz="1300" b="1" dirty="0">
                <a:solidFill>
                  <a:srgbClr val="1A1C22"/>
                </a:solidFill>
                <a:latin typeface="Arial" pitchFamily="34" charset="0"/>
                <a:ea typeface="Arial" pitchFamily="34" charset="-122"/>
                <a:cs typeface="Arial" pitchFamily="34" charset="-120"/>
              </a:rPr>
              <a:t>Uncertainty quantification</a:t>
            </a:r>
            <a:endParaRPr lang="en-US" sz="1300" dirty="0"/>
          </a:p>
        </p:txBody>
      </p:sp>
      <p:sp>
        <p:nvSpPr>
          <p:cNvPr id="30" name="Text 28"/>
          <p:cNvSpPr/>
          <p:nvPr/>
        </p:nvSpPr>
        <p:spPr>
          <a:xfrm>
            <a:off x="4813706" y="5495544"/>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probability distribution + confidence ceiling</a:t>
            </a:r>
            <a:endParaRPr lang="en-US" sz="1050" dirty="0"/>
          </a:p>
        </p:txBody>
      </p:sp>
      <p:sp>
        <p:nvSpPr>
          <p:cNvPr id="31" name="Text 29"/>
          <p:cNvSpPr/>
          <p:nvPr/>
        </p:nvSpPr>
        <p:spPr>
          <a:xfrm>
            <a:off x="8127797" y="5184648"/>
            <a:ext cx="3332378" cy="292608"/>
          </a:xfrm>
          <a:prstGeom prst="rect">
            <a:avLst/>
          </a:prstGeom>
          <a:noFill/>
          <a:ln/>
        </p:spPr>
        <p:txBody>
          <a:bodyPr wrap="square" rtlCol="0" anchor="ctr"/>
          <a:lstStyle/>
          <a:p>
            <a:pPr marL="0" indent="0">
              <a:buNone/>
            </a:pPr>
            <a:r>
              <a:rPr lang="en-US" sz="1300" b="1" dirty="0">
                <a:solidFill>
                  <a:srgbClr val="3A3D45"/>
                </a:solidFill>
                <a:latin typeface="Arial" pitchFamily="34" charset="0"/>
                <a:ea typeface="Arial" pitchFamily="34" charset="-122"/>
                <a:cs typeface="Arial" pitchFamily="34" charset="-120"/>
              </a:rPr>
              <a:t>09  </a:t>
            </a:r>
            <a:r>
              <a:rPr lang="en-US" sz="1300" b="1" dirty="0">
                <a:solidFill>
                  <a:srgbClr val="1A1C22"/>
                </a:solidFill>
                <a:latin typeface="Arial" pitchFamily="34" charset="0"/>
                <a:ea typeface="Arial" pitchFamily="34" charset="-122"/>
                <a:cs typeface="Arial" pitchFamily="34" charset="-120"/>
              </a:rPr>
              <a:t>Memory write-back</a:t>
            </a:r>
            <a:endParaRPr lang="en-US" sz="1300" dirty="0"/>
          </a:p>
        </p:txBody>
      </p:sp>
      <p:sp>
        <p:nvSpPr>
          <p:cNvPr id="32" name="Text 30"/>
          <p:cNvSpPr/>
          <p:nvPr/>
        </p:nvSpPr>
        <p:spPr>
          <a:xfrm>
            <a:off x="8511845" y="5495544"/>
            <a:ext cx="2920898" cy="457200"/>
          </a:xfrm>
          <a:prstGeom prst="rect">
            <a:avLst/>
          </a:prstGeom>
          <a:noFill/>
          <a:ln/>
        </p:spPr>
        <p:txBody>
          <a:bodyPr wrap="square" rtlCol="0" anchor="t"/>
          <a:lstStyle/>
          <a:p>
            <a:pPr marL="0" indent="0">
              <a:lnSpc>
                <a:spcPct val="110000"/>
              </a:lnSpc>
              <a:buNone/>
            </a:pPr>
            <a:r>
              <a:rPr lang="en-US" sz="1050" dirty="0">
                <a:solidFill>
                  <a:srgbClr val="5B5E66"/>
                </a:solidFill>
                <a:latin typeface="Arial" pitchFamily="34" charset="0"/>
                <a:ea typeface="Arial" pitchFamily="34" charset="-122"/>
                <a:cs typeface="Arial" pitchFamily="34" charset="-120"/>
              </a:rPr>
              <a:t>each analysis re-ingested — the corpus compounds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06</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06</a:t>
            </a:r>
            <a:r>
              <a:rPr lang="en-US" sz="1150" b="1" kern="0" spc="200" dirty="0">
                <a:solidFill>
                  <a:srgbClr val="3A3D45"/>
                </a:solidFill>
                <a:latin typeface="Courier New" pitchFamily="34" charset="0"/>
                <a:ea typeface="Courier New" pitchFamily="34" charset="-122"/>
                <a:cs typeface="Courier New" pitchFamily="34" charset="-120"/>
              </a:rPr>
              <a:t>  —  AI IMPACT</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06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It gets smarter every time it is used.</a:t>
            </a:r>
            <a:endParaRPr lang="en-US" sz="3300" dirty="0"/>
          </a:p>
        </p:txBody>
      </p:sp>
      <p:sp>
        <p:nvSpPr>
          <p:cNvPr id="9" name="Shape 7"/>
          <p:cNvSpPr/>
          <p:nvPr/>
        </p:nvSpPr>
        <p:spPr>
          <a:xfrm>
            <a:off x="731520" y="2331720"/>
            <a:ext cx="5669280" cy="3063240"/>
          </a:xfrm>
          <a:prstGeom prst="rect">
            <a:avLst/>
          </a:prstGeom>
          <a:solidFill>
            <a:srgbClr val="16181D"/>
          </a:solidFill>
          <a:ln w="12700">
            <a:solidFill>
              <a:srgbClr val="16181D"/>
            </a:solidFill>
            <a:prstDash val="solid"/>
          </a:ln>
          <a:effectLst>
            <a:outerShdw blurRad="101600" dist="38100" dir="5400000" algn="bl" rotWithShape="0">
              <a:srgbClr val="BFBEB8">
                <a:alpha val="50000"/>
              </a:srgbClr>
            </a:outerShdw>
          </a:effectLst>
        </p:spPr>
      </p:sp>
      <p:sp>
        <p:nvSpPr>
          <p:cNvPr id="10" name="Text 8"/>
          <p:cNvSpPr/>
          <p:nvPr/>
        </p:nvSpPr>
        <p:spPr>
          <a:xfrm>
            <a:off x="1005840" y="2532888"/>
            <a:ext cx="5120640" cy="274320"/>
          </a:xfrm>
          <a:prstGeom prst="rect">
            <a:avLst/>
          </a:prstGeom>
          <a:noFill/>
          <a:ln/>
        </p:spPr>
        <p:txBody>
          <a:bodyPr wrap="square" rtlCol="0" anchor="ctr"/>
          <a:lstStyle/>
          <a:p>
            <a:pPr marL="0" indent="0">
              <a:buNone/>
            </a:pPr>
            <a:r>
              <a:rPr lang="en-US" sz="1050" kern="0" spc="100" dirty="0">
                <a:solidFill>
                  <a:srgbClr val="C79A4E"/>
                </a:solidFill>
                <a:latin typeface="Courier New" pitchFamily="34" charset="0"/>
                <a:ea typeface="Courier New" pitchFamily="34" charset="-122"/>
                <a:cs typeface="Courier New" pitchFamily="34" charset="-120"/>
              </a:rPr>
              <a:t>the winning moment — live</a:t>
            </a:r>
            <a:endParaRPr lang="en-US" sz="1050" dirty="0"/>
          </a:p>
        </p:txBody>
      </p:sp>
      <p:sp>
        <p:nvSpPr>
          <p:cNvPr id="11" name="Text 9"/>
          <p:cNvSpPr/>
          <p:nvPr/>
        </p:nvSpPr>
        <p:spPr>
          <a:xfrm>
            <a:off x="1005840" y="2953512"/>
            <a:ext cx="5120640" cy="2286000"/>
          </a:xfrm>
          <a:prstGeom prst="rect">
            <a:avLst/>
          </a:prstGeom>
          <a:noFill/>
          <a:ln/>
        </p:spPr>
        <p:txBody>
          <a:bodyPr wrap="square" rtlCol="0" anchor="t"/>
          <a:lstStyle/>
          <a:p>
            <a:pPr marL="0" indent="0">
              <a:lnSpc>
                <a:spcPct val="118000"/>
              </a:lnSpc>
              <a:buNone/>
            </a:pPr>
            <a:r>
              <a:rPr lang="en-US" sz="1400" dirty="0">
                <a:solidFill>
                  <a:srgbClr val="9AA0A8"/>
                </a:solidFill>
                <a:latin typeface="Courier New" pitchFamily="34" charset="0"/>
                <a:ea typeface="Courier New" pitchFamily="34" charset="-122"/>
                <a:cs typeface="Courier New" pitchFamily="34" charset="-120"/>
              </a:rPr>
              <a:t>› Searching incident memory…</a:t>
            </a:r>
            <a:endParaRPr lang="en-US" sz="1400" dirty="0"/>
          </a:p>
          <a:p>
            <a:pPr marL="0" indent="0">
              <a:lnSpc>
                <a:spcPct val="118000"/>
              </a:lnSpc>
              <a:buNone/>
            </a:pPr>
            <a:r>
              <a:rPr lang="en-US" sz="1400" dirty="0">
                <a:solidFill>
                  <a:srgbClr val="6FCFB6"/>
                </a:solidFill>
                <a:latin typeface="Courier New" pitchFamily="34" charset="0"/>
                <a:ea typeface="Courier New" pitchFamily="34" charset="-122"/>
                <a:cs typeface="Courier New" pitchFamily="34" charset="-120"/>
              </a:rPr>
              <a:t>✓ Strong match: inc_seed_003</a:t>
            </a:r>
            <a:endParaRPr lang="en-US" sz="1400" dirty="0"/>
          </a:p>
          <a:p>
            <a:pPr marL="0" indent="0">
              <a:lnSpc>
                <a:spcPct val="118000"/>
              </a:lnSpc>
              <a:buNone/>
            </a:pPr>
            <a:r>
              <a:rPr lang="en-US" sz="1400" dirty="0">
                <a:solidFill>
                  <a:srgbClr val="9AA0A8"/>
                </a:solidFill>
                <a:latin typeface="Courier New" pitchFamily="34" charset="0"/>
                <a:ea typeface="Courier New" pitchFamily="34" charset="-122"/>
                <a:cs typeface="Courier New" pitchFamily="34" charset="-120"/>
              </a:rPr>
              <a:t>    94% similarity · 3 weeks ago</a:t>
            </a:r>
            <a:endParaRPr lang="en-US" sz="1400" dirty="0"/>
          </a:p>
          <a:p>
            <a:pPr marL="0" indent="0">
              <a:lnSpc>
                <a:spcPct val="118000"/>
              </a:lnSpc>
              <a:buNone/>
            </a:pPr>
            <a:r>
              <a:rPr lang="en-US" sz="1400" dirty="0">
                <a:solidFill>
                  <a:srgbClr val="E9EAEC"/>
                </a:solidFill>
                <a:latin typeface="Courier New" pitchFamily="34" charset="0"/>
                <a:ea typeface="Courier New" pitchFamily="34" charset="-122"/>
                <a:cs typeface="Courier New" pitchFamily="34" charset="-120"/>
              </a:rPr>
              <a:t>↳ Same androidx.core conflict —</a:t>
            </a:r>
            <a:endParaRPr lang="en-US" sz="1400" dirty="0"/>
          </a:p>
          <a:p>
            <a:pPr marL="0" indent="0">
              <a:lnSpc>
                <a:spcPct val="118000"/>
              </a:lnSpc>
              <a:buNone/>
            </a:pPr>
            <a:r>
              <a:rPr lang="en-US" sz="1400" dirty="0">
                <a:solidFill>
                  <a:srgbClr val="E9EAEC"/>
                </a:solidFill>
                <a:latin typeface="Courier New" pitchFamily="34" charset="0"/>
                <a:ea typeface="Courier New" pitchFamily="34" charset="-122"/>
                <a:cs typeface="Courier New" pitchFamily="34" charset="-120"/>
              </a:rPr>
              <a:t>    fixed by forcing core-ktx:1.15.0</a:t>
            </a:r>
            <a:endParaRPr lang="en-US" sz="1400" dirty="0"/>
          </a:p>
          <a:p>
            <a:pPr marL="0" indent="0">
              <a:lnSpc>
                <a:spcPct val="118000"/>
              </a:lnSpc>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marL="0" indent="0">
              <a:lnSpc>
                <a:spcPct val="118000"/>
              </a:lnSpc>
              <a:buNone/>
            </a:pPr>
            <a:r>
              <a:rPr lang="en-US" sz="1400" dirty="0">
                <a:solidFill>
                  <a:srgbClr val="E0B15E"/>
                </a:solidFill>
                <a:latin typeface="Courier New" pitchFamily="34" charset="0"/>
                <a:ea typeface="Courier New" pitchFamily="34" charset="-122"/>
                <a:cs typeface="Courier New" pitchFamily="34" charset="-120"/>
              </a:rPr>
              <a:t>confidence 91%   ·   fix cited</a:t>
            </a:r>
            <a:endParaRPr lang="en-US" sz="1400" dirty="0"/>
          </a:p>
        </p:txBody>
      </p:sp>
      <p:sp>
        <p:nvSpPr>
          <p:cNvPr id="12" name="Text 10"/>
          <p:cNvSpPr/>
          <p:nvPr/>
        </p:nvSpPr>
        <p:spPr>
          <a:xfrm>
            <a:off x="7040880" y="2377440"/>
            <a:ext cx="4419295" cy="320040"/>
          </a:xfrm>
          <a:prstGeom prst="rect">
            <a:avLst/>
          </a:prstGeom>
          <a:noFill/>
          <a:ln/>
        </p:spPr>
        <p:txBody>
          <a:bodyPr wrap="square" rtlCol="0" anchor="ctr"/>
          <a:lstStyle/>
          <a:p>
            <a:pPr marL="0" indent="0">
              <a:buNone/>
            </a:pPr>
            <a:r>
              <a:rPr lang="en-US" sz="1800" b="1" dirty="0">
                <a:solidFill>
                  <a:srgbClr val="B45309"/>
                </a:solidFill>
                <a:latin typeface="Century Schoolbook" pitchFamily="34" charset="0"/>
                <a:ea typeface="Century Schoolbook" pitchFamily="34" charset="-122"/>
                <a:cs typeface="Century Schoolbook" pitchFamily="34" charset="-120"/>
              </a:rPr>
              <a:t>Compounding corpus</a:t>
            </a:r>
            <a:endParaRPr lang="en-US" sz="1800" dirty="0"/>
          </a:p>
        </p:txBody>
      </p:sp>
      <p:sp>
        <p:nvSpPr>
          <p:cNvPr id="13" name="Text 11"/>
          <p:cNvSpPr/>
          <p:nvPr/>
        </p:nvSpPr>
        <p:spPr>
          <a:xfrm>
            <a:off x="7040880" y="2761488"/>
            <a:ext cx="4419295" cy="640080"/>
          </a:xfrm>
          <a:prstGeom prst="rect">
            <a:avLst/>
          </a:prstGeom>
          <a:noFill/>
          <a:ln/>
        </p:spPr>
        <p:txBody>
          <a:bodyPr wrap="square" rtlCol="0" anchor="t"/>
          <a:lstStyle/>
          <a:p>
            <a:pPr marL="0" indent="0">
              <a:lnSpc>
                <a:spcPct val="120000"/>
              </a:lnSpc>
              <a:buNone/>
            </a:pPr>
            <a:r>
              <a:rPr lang="en-US" sz="1250" dirty="0">
                <a:solidFill>
                  <a:srgbClr val="3A3D45"/>
                </a:solidFill>
                <a:latin typeface="Arial" pitchFamily="34" charset="0"/>
                <a:ea typeface="Arial" pitchFamily="34" charset="-122"/>
                <a:cs typeface="Arial" pitchFamily="34" charset="-120"/>
              </a:rPr>
              <a:t>Every diagnosis is re-ingested to ChromaDB and Neo4j — so the next failure meets a cited past fix.</a:t>
            </a:r>
            <a:endParaRPr lang="en-US" sz="1250" dirty="0"/>
          </a:p>
        </p:txBody>
      </p:sp>
      <p:sp>
        <p:nvSpPr>
          <p:cNvPr id="14" name="Shape 12"/>
          <p:cNvSpPr/>
          <p:nvPr/>
        </p:nvSpPr>
        <p:spPr>
          <a:xfrm>
            <a:off x="7040880" y="3401568"/>
            <a:ext cx="4419295" cy="0"/>
          </a:xfrm>
          <a:prstGeom prst="line">
            <a:avLst/>
          </a:prstGeom>
          <a:noFill/>
          <a:ln w="9525">
            <a:solidFill>
              <a:srgbClr val="D9D8D2"/>
            </a:solidFill>
            <a:prstDash val="solid"/>
          </a:ln>
        </p:spPr>
      </p:sp>
      <p:sp>
        <p:nvSpPr>
          <p:cNvPr id="15" name="Text 13"/>
          <p:cNvSpPr/>
          <p:nvPr/>
        </p:nvSpPr>
        <p:spPr>
          <a:xfrm>
            <a:off x="7040880" y="3493008"/>
            <a:ext cx="4419295" cy="320040"/>
          </a:xfrm>
          <a:prstGeom prst="rect">
            <a:avLst/>
          </a:prstGeom>
          <a:noFill/>
          <a:ln/>
        </p:spPr>
        <p:txBody>
          <a:bodyPr wrap="square" rtlCol="0" anchor="ctr"/>
          <a:lstStyle/>
          <a:p>
            <a:pPr marL="0" indent="0">
              <a:buNone/>
            </a:pPr>
            <a:r>
              <a:rPr lang="en-US" sz="1800" b="1" dirty="0">
                <a:solidFill>
                  <a:srgbClr val="0F6E68"/>
                </a:solidFill>
                <a:latin typeface="Century Schoolbook" pitchFamily="34" charset="0"/>
                <a:ea typeface="Century Schoolbook" pitchFamily="34" charset="-122"/>
                <a:cs typeface="Century Schoolbook" pitchFamily="34" charset="-120"/>
              </a:rPr>
              <a:t>Cited, dated, quantified</a:t>
            </a:r>
            <a:endParaRPr lang="en-US" sz="1800" dirty="0"/>
          </a:p>
        </p:txBody>
      </p:sp>
      <p:sp>
        <p:nvSpPr>
          <p:cNvPr id="16" name="Text 14"/>
          <p:cNvSpPr/>
          <p:nvPr/>
        </p:nvSpPr>
        <p:spPr>
          <a:xfrm>
            <a:off x="7040880" y="3877056"/>
            <a:ext cx="4419295" cy="640080"/>
          </a:xfrm>
          <a:prstGeom prst="rect">
            <a:avLst/>
          </a:prstGeom>
          <a:noFill/>
          <a:ln/>
        </p:spPr>
        <p:txBody>
          <a:bodyPr wrap="square" rtlCol="0" anchor="t"/>
          <a:lstStyle/>
          <a:p>
            <a:pPr marL="0" indent="0">
              <a:lnSpc>
                <a:spcPct val="120000"/>
              </a:lnSpc>
              <a:buNone/>
            </a:pPr>
            <a:r>
              <a:rPr lang="en-US" sz="1250" dirty="0">
                <a:solidFill>
                  <a:srgbClr val="3A3D45"/>
                </a:solidFill>
                <a:latin typeface="Arial" pitchFamily="34" charset="0"/>
                <a:ea typeface="Arial" pitchFamily="34" charset="-122"/>
                <a:cs typeface="Arial" pitchFamily="34" charset="-120"/>
              </a:rPr>
              <a:t>Automotive answers carry record IDs and warranty cost — memory a chatbot cannot fake.</a:t>
            </a:r>
            <a:endParaRPr lang="en-US" sz="1250" dirty="0"/>
          </a:p>
        </p:txBody>
      </p:sp>
      <p:sp>
        <p:nvSpPr>
          <p:cNvPr id="17" name="Shape 15"/>
          <p:cNvSpPr/>
          <p:nvPr/>
        </p:nvSpPr>
        <p:spPr>
          <a:xfrm>
            <a:off x="7040880" y="4517136"/>
            <a:ext cx="4419295" cy="0"/>
          </a:xfrm>
          <a:prstGeom prst="line">
            <a:avLst/>
          </a:prstGeom>
          <a:noFill/>
          <a:ln w="9525">
            <a:solidFill>
              <a:srgbClr val="D9D8D2"/>
            </a:solidFill>
            <a:prstDash val="solid"/>
          </a:ln>
        </p:spPr>
      </p:sp>
      <p:sp>
        <p:nvSpPr>
          <p:cNvPr id="18" name="Text 16"/>
          <p:cNvSpPr/>
          <p:nvPr/>
        </p:nvSpPr>
        <p:spPr>
          <a:xfrm>
            <a:off x="7040880" y="4608576"/>
            <a:ext cx="4419295" cy="320040"/>
          </a:xfrm>
          <a:prstGeom prst="rect">
            <a:avLst/>
          </a:prstGeom>
          <a:noFill/>
          <a:ln/>
        </p:spPr>
        <p:txBody>
          <a:bodyPr wrap="square" rtlCol="0" anchor="ctr"/>
          <a:lstStyle/>
          <a:p>
            <a:pPr marL="0" indent="0">
              <a:buNone/>
            </a:pPr>
            <a:r>
              <a:rPr lang="en-US" sz="1800" b="1" dirty="0">
                <a:solidFill>
                  <a:srgbClr val="1A1C22"/>
                </a:solidFill>
                <a:latin typeface="Century Schoolbook" pitchFamily="34" charset="0"/>
                <a:ea typeface="Century Schoolbook" pitchFamily="34" charset="-122"/>
                <a:cs typeface="Century Schoolbook" pitchFamily="34" charset="-120"/>
              </a:rPr>
              <a:t>The loop closes itself</a:t>
            </a:r>
            <a:endParaRPr lang="en-US" sz="1800" dirty="0"/>
          </a:p>
        </p:txBody>
      </p:sp>
      <p:sp>
        <p:nvSpPr>
          <p:cNvPr id="19" name="Text 17"/>
          <p:cNvSpPr/>
          <p:nvPr/>
        </p:nvSpPr>
        <p:spPr>
          <a:xfrm>
            <a:off x="7040880" y="4992624"/>
            <a:ext cx="4419295" cy="640080"/>
          </a:xfrm>
          <a:prstGeom prst="rect">
            <a:avLst/>
          </a:prstGeom>
          <a:noFill/>
          <a:ln/>
        </p:spPr>
        <p:txBody>
          <a:bodyPr wrap="square" rtlCol="0" anchor="t"/>
          <a:lstStyle/>
          <a:p>
            <a:pPr marL="0" indent="0">
              <a:lnSpc>
                <a:spcPct val="120000"/>
              </a:lnSpc>
              <a:buNone/>
            </a:pPr>
            <a:r>
              <a:rPr lang="en-US" sz="1250" dirty="0">
                <a:solidFill>
                  <a:srgbClr val="3A3D45"/>
                </a:solidFill>
                <a:latin typeface="Arial" pitchFamily="34" charset="0"/>
                <a:ea typeface="Arial" pitchFamily="34" charset="-122"/>
                <a:cs typeface="Arial" pitchFamily="34" charset="-120"/>
              </a:rPr>
              <a:t>Predict → validate → file → new data → back to memory. Every run leaves the system smarter.</a:t>
            </a:r>
            <a:endParaRPr lang="en-US" sz="1250" dirty="0"/>
          </a:p>
        </p:txBody>
      </p:sp>
      <p:sp>
        <p:nvSpPr>
          <p:cNvPr id="20" name="Text 18"/>
          <p:cNvSpPr/>
          <p:nvPr/>
        </p:nvSpPr>
        <p:spPr>
          <a:xfrm>
            <a:off x="731520" y="5669280"/>
            <a:ext cx="10728655" cy="365760"/>
          </a:xfrm>
          <a:prstGeom prst="rect">
            <a:avLst/>
          </a:prstGeom>
          <a:noFill/>
          <a:ln/>
        </p:spPr>
        <p:txBody>
          <a:bodyPr wrap="square" rtlCol="0" anchor="ctr"/>
          <a:lstStyle/>
          <a:p>
            <a:pPr marL="0" indent="0">
              <a:buNone/>
            </a:pPr>
            <a:r>
              <a:rPr lang="en-US" sz="1600" i="1" dirty="0">
                <a:solidFill>
                  <a:srgbClr val="1A1C22"/>
                </a:solidFill>
                <a:latin typeface="Century Schoolbook" pitchFamily="34" charset="0"/>
                <a:ea typeface="Century Schoolbook" pitchFamily="34" charset="-122"/>
                <a:cs typeface="Century Schoolbook" pitchFamily="34" charset="-120"/>
              </a:rPr>
              <a:t>A log summarizer starts from zero every time. AEON starts from everything it has ever seen.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07</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07</a:t>
            </a:r>
            <a:r>
              <a:rPr lang="en-US" sz="1150" b="1" kern="0" spc="200" dirty="0">
                <a:solidFill>
                  <a:srgbClr val="3A3D45"/>
                </a:solidFill>
                <a:latin typeface="Courier New" pitchFamily="34" charset="0"/>
                <a:ea typeface="Courier New" pitchFamily="34" charset="-122"/>
                <a:cs typeface="Courier New" pitchFamily="34" charset="-120"/>
              </a:rPr>
              <a:t>  —  BUSINESS RELEVANCE</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07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Attacking cost every engineering org</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already pays.</a:t>
            </a:r>
            <a:endParaRPr lang="en-US" sz="3300" dirty="0"/>
          </a:p>
        </p:txBody>
      </p:sp>
      <p:sp>
        <p:nvSpPr>
          <p:cNvPr id="9" name="Shape 7"/>
          <p:cNvSpPr/>
          <p:nvPr/>
        </p:nvSpPr>
        <p:spPr>
          <a:xfrm>
            <a:off x="6095848" y="2331720"/>
            <a:ext cx="0" cy="960120"/>
          </a:xfrm>
          <a:prstGeom prst="line">
            <a:avLst/>
          </a:prstGeom>
          <a:noFill/>
          <a:ln w="12700">
            <a:solidFill>
              <a:srgbClr val="D9D8D2"/>
            </a:solidFill>
            <a:prstDash val="solid"/>
          </a:ln>
        </p:spPr>
      </p:sp>
      <p:sp>
        <p:nvSpPr>
          <p:cNvPr id="10" name="Text 8"/>
          <p:cNvSpPr/>
          <p:nvPr/>
        </p:nvSpPr>
        <p:spPr>
          <a:xfrm>
            <a:off x="731520" y="2331720"/>
            <a:ext cx="2743200" cy="274320"/>
          </a:xfrm>
          <a:prstGeom prst="rect">
            <a:avLst/>
          </a:prstGeom>
          <a:noFill/>
          <a:ln/>
        </p:spPr>
        <p:txBody>
          <a:bodyPr wrap="square" rtlCol="0" anchor="ctr"/>
          <a:lstStyle/>
          <a:p>
            <a:pPr marL="0" indent="0" algn="l">
              <a:buNone/>
            </a:pPr>
            <a:r>
              <a:rPr lang="en-US" sz="1050" kern="0" spc="200" dirty="0">
                <a:solidFill>
                  <a:srgbClr val="B45309"/>
                </a:solidFill>
                <a:latin typeface="Courier New" pitchFamily="34" charset="0"/>
                <a:ea typeface="Courier New" pitchFamily="34" charset="-122"/>
                <a:cs typeface="Courier New" pitchFamily="34" charset="-120"/>
              </a:rPr>
              <a:t>●  </a:t>
            </a:r>
            <a:r>
              <a:rPr lang="en-US" sz="1050" b="1" kern="0" spc="200" dirty="0">
                <a:solidFill>
                  <a:srgbClr val="B45309"/>
                </a:solidFill>
                <a:latin typeface="Courier New" pitchFamily="34" charset="0"/>
                <a:ea typeface="Courier New" pitchFamily="34" charset="-122"/>
                <a:cs typeface="Courier New" pitchFamily="34" charset="-120"/>
              </a:rPr>
              <a:t>DEVOPS</a:t>
            </a:r>
            <a:endParaRPr lang="en-US" sz="1050" dirty="0"/>
          </a:p>
        </p:txBody>
      </p:sp>
      <p:sp>
        <p:nvSpPr>
          <p:cNvPr id="11" name="Text 9"/>
          <p:cNvSpPr/>
          <p:nvPr/>
        </p:nvSpPr>
        <p:spPr>
          <a:xfrm>
            <a:off x="731520" y="2606040"/>
            <a:ext cx="4952848" cy="320040"/>
          </a:xfrm>
          <a:prstGeom prst="rect">
            <a:avLst/>
          </a:prstGeom>
          <a:noFill/>
          <a:ln/>
        </p:spPr>
        <p:txBody>
          <a:bodyPr wrap="square" rtlCol="0" anchor="ctr"/>
          <a:lstStyle/>
          <a:p>
            <a:pPr marL="0" indent="0">
              <a:buNone/>
            </a:pPr>
            <a:r>
              <a:rPr lang="en-US" sz="1550" b="1" dirty="0">
                <a:solidFill>
                  <a:srgbClr val="1A1C22"/>
                </a:solidFill>
                <a:latin typeface="Century Schoolbook" pitchFamily="34" charset="0"/>
                <a:ea typeface="Century Schoolbook" pitchFamily="34" charset="-122"/>
                <a:cs typeface="Century Schoolbook" pitchFamily="34" charset="-120"/>
              </a:rPr>
              <a:t>Repeat-incident cost + tribal-knowledge loss</a:t>
            </a:r>
            <a:endParaRPr lang="en-US" sz="1550" dirty="0"/>
          </a:p>
        </p:txBody>
      </p:sp>
      <p:sp>
        <p:nvSpPr>
          <p:cNvPr id="12" name="Text 10"/>
          <p:cNvSpPr/>
          <p:nvPr/>
        </p:nvSpPr>
        <p:spPr>
          <a:xfrm>
            <a:off x="731520" y="2953512"/>
            <a:ext cx="4861408" cy="54864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Hours burned re-solving known failures; expertise walks out the door when engineers leave.</a:t>
            </a:r>
            <a:endParaRPr lang="en-US" sz="1200" dirty="0"/>
          </a:p>
        </p:txBody>
      </p:sp>
      <p:sp>
        <p:nvSpPr>
          <p:cNvPr id="13" name="Text 11"/>
          <p:cNvSpPr/>
          <p:nvPr/>
        </p:nvSpPr>
        <p:spPr>
          <a:xfrm>
            <a:off x="6507328" y="2331720"/>
            <a:ext cx="2743200" cy="274320"/>
          </a:xfrm>
          <a:prstGeom prst="rect">
            <a:avLst/>
          </a:prstGeom>
          <a:noFill/>
          <a:ln/>
        </p:spPr>
        <p:txBody>
          <a:bodyPr wrap="square" rtlCol="0" anchor="ctr"/>
          <a:lstStyle/>
          <a:p>
            <a:pPr marL="0" indent="0" algn="l">
              <a:buNone/>
            </a:pPr>
            <a:r>
              <a:rPr lang="en-US" sz="1050" kern="0" spc="200" dirty="0">
                <a:solidFill>
                  <a:srgbClr val="0F6E68"/>
                </a:solidFill>
                <a:latin typeface="Courier New" pitchFamily="34" charset="0"/>
                <a:ea typeface="Courier New" pitchFamily="34" charset="-122"/>
                <a:cs typeface="Courier New" pitchFamily="34" charset="-120"/>
              </a:rPr>
              <a:t>●  </a:t>
            </a:r>
            <a:r>
              <a:rPr lang="en-US" sz="1050" b="1" kern="0" spc="200" dirty="0">
                <a:solidFill>
                  <a:srgbClr val="0F6E68"/>
                </a:solidFill>
                <a:latin typeface="Courier New" pitchFamily="34" charset="0"/>
                <a:ea typeface="Courier New" pitchFamily="34" charset="-122"/>
                <a:cs typeface="Courier New" pitchFamily="34" charset="-120"/>
              </a:rPr>
              <a:t>AUTOMOTIVE</a:t>
            </a:r>
            <a:endParaRPr lang="en-US" sz="1050" dirty="0"/>
          </a:p>
        </p:txBody>
      </p:sp>
      <p:sp>
        <p:nvSpPr>
          <p:cNvPr id="14" name="Text 12"/>
          <p:cNvSpPr/>
          <p:nvPr/>
        </p:nvSpPr>
        <p:spPr>
          <a:xfrm>
            <a:off x="6507328" y="2606040"/>
            <a:ext cx="4952848" cy="320040"/>
          </a:xfrm>
          <a:prstGeom prst="rect">
            <a:avLst/>
          </a:prstGeom>
          <a:noFill/>
          <a:ln/>
        </p:spPr>
        <p:txBody>
          <a:bodyPr wrap="square" rtlCol="0" anchor="ctr"/>
          <a:lstStyle/>
          <a:p>
            <a:pPr marL="0" indent="0">
              <a:buNone/>
            </a:pPr>
            <a:r>
              <a:rPr lang="en-US" sz="1550" b="1" dirty="0">
                <a:solidFill>
                  <a:srgbClr val="1A1C22"/>
                </a:solidFill>
                <a:latin typeface="Century Schoolbook" pitchFamily="34" charset="0"/>
                <a:ea typeface="Century Schoolbook" pitchFamily="34" charset="-122"/>
                <a:cs typeface="Century Schoolbook" pitchFamily="34" charset="-120"/>
              </a:rPr>
              <a:t>Warranty, rework and recall exposure</a:t>
            </a:r>
            <a:endParaRPr lang="en-US" sz="1550" dirty="0"/>
          </a:p>
        </p:txBody>
      </p:sp>
      <p:sp>
        <p:nvSpPr>
          <p:cNvPr id="15" name="Text 13"/>
          <p:cNvSpPr/>
          <p:nvPr/>
        </p:nvSpPr>
        <p:spPr>
          <a:xfrm>
            <a:off x="6507328" y="2953512"/>
            <a:ext cx="4861408" cy="54864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The same design failures repeat because prevention evidence never reaches the design review.</a:t>
            </a:r>
            <a:endParaRPr lang="en-US" sz="1200" dirty="0"/>
          </a:p>
        </p:txBody>
      </p:sp>
      <p:sp>
        <p:nvSpPr>
          <p:cNvPr id="16" name="Text 14"/>
          <p:cNvSpPr/>
          <p:nvPr/>
        </p:nvSpPr>
        <p:spPr>
          <a:xfrm>
            <a:off x="731520" y="3794760"/>
            <a:ext cx="10728655" cy="274320"/>
          </a:xfrm>
          <a:prstGeom prst="rect">
            <a:avLst/>
          </a:prstGeom>
          <a:noFill/>
          <a:ln/>
        </p:spPr>
        <p:txBody>
          <a:bodyPr wrap="square" rtlCol="0" anchor="ctr"/>
          <a:lstStyle/>
          <a:p>
            <a:pPr marL="0" indent="0">
              <a:buNone/>
            </a:pPr>
            <a:r>
              <a:rPr lang="en-US" sz="1050" b="1" kern="0" spc="200" dirty="0">
                <a:solidFill>
                  <a:srgbClr val="5B5E66"/>
                </a:solidFill>
                <a:latin typeface="Courier New" pitchFamily="34" charset="0"/>
                <a:ea typeface="Courier New" pitchFamily="34" charset="-122"/>
                <a:cs typeface="Courier New" pitchFamily="34" charset="-120"/>
              </a:rPr>
              <a:t>SHIFT LEFT — the later a failure is caught, the more it costs</a:t>
            </a:r>
            <a:endParaRPr lang="en-US" sz="1050" dirty="0"/>
          </a:p>
        </p:txBody>
      </p:sp>
      <p:sp>
        <p:nvSpPr>
          <p:cNvPr id="17" name="Shape 15"/>
          <p:cNvSpPr/>
          <p:nvPr/>
        </p:nvSpPr>
        <p:spPr>
          <a:xfrm>
            <a:off x="731520" y="5806440"/>
            <a:ext cx="10728655" cy="0"/>
          </a:xfrm>
          <a:prstGeom prst="line">
            <a:avLst/>
          </a:prstGeom>
          <a:noFill/>
          <a:ln w="15875">
            <a:solidFill>
              <a:srgbClr val="1A1C22"/>
            </a:solidFill>
            <a:prstDash val="solid"/>
          </a:ln>
        </p:spPr>
      </p:sp>
      <p:sp>
        <p:nvSpPr>
          <p:cNvPr id="18" name="Text 16"/>
          <p:cNvSpPr/>
          <p:nvPr/>
        </p:nvSpPr>
        <p:spPr>
          <a:xfrm>
            <a:off x="822960" y="4800600"/>
            <a:ext cx="2316404" cy="685800"/>
          </a:xfrm>
          <a:prstGeom prst="rect">
            <a:avLst/>
          </a:prstGeom>
          <a:noFill/>
          <a:ln/>
        </p:spPr>
        <p:txBody>
          <a:bodyPr wrap="square" rtlCol="0" anchor="b"/>
          <a:lstStyle/>
          <a:p>
            <a:pPr marL="0" indent="0" algn="l">
              <a:buNone/>
            </a:pPr>
            <a:r>
              <a:rPr lang="en-US" sz="2200" b="1" dirty="0">
                <a:solidFill>
                  <a:srgbClr val="B45309"/>
                </a:solidFill>
                <a:latin typeface="Century Schoolbook" pitchFamily="34" charset="0"/>
                <a:ea typeface="Century Schoolbook" pitchFamily="34" charset="-122"/>
                <a:cs typeface="Century Schoolbook" pitchFamily="34" charset="-120"/>
              </a:rPr>
              <a:t>1×</a:t>
            </a:r>
            <a:endParaRPr lang="en-US" sz="2200" dirty="0"/>
          </a:p>
        </p:txBody>
      </p:sp>
      <p:sp>
        <p:nvSpPr>
          <p:cNvPr id="19" name="Text 17"/>
          <p:cNvSpPr/>
          <p:nvPr/>
        </p:nvSpPr>
        <p:spPr>
          <a:xfrm>
            <a:off x="841248" y="5879592"/>
            <a:ext cx="2407844" cy="274320"/>
          </a:xfrm>
          <a:prstGeom prst="rect">
            <a:avLst/>
          </a:prstGeom>
          <a:noFill/>
          <a:ln/>
        </p:spPr>
        <p:txBody>
          <a:bodyPr wrap="square" rtlCol="0" anchor="ctr"/>
          <a:lstStyle/>
          <a:p>
            <a:pPr marL="0" indent="0">
              <a:buNone/>
            </a:pPr>
            <a:r>
              <a:rPr lang="en-US" sz="1150" dirty="0">
                <a:solidFill>
                  <a:srgbClr val="5B5E66"/>
                </a:solidFill>
                <a:latin typeface="Arial" pitchFamily="34" charset="0"/>
                <a:ea typeface="Arial" pitchFamily="34" charset="-122"/>
                <a:cs typeface="Arial" pitchFamily="34" charset="-120"/>
              </a:rPr>
              <a:t>Design review</a:t>
            </a:r>
            <a:endParaRPr lang="en-US" sz="1150" dirty="0"/>
          </a:p>
        </p:txBody>
      </p:sp>
      <p:sp>
        <p:nvSpPr>
          <p:cNvPr id="20" name="Shape 18"/>
          <p:cNvSpPr/>
          <p:nvPr/>
        </p:nvSpPr>
        <p:spPr>
          <a:xfrm>
            <a:off x="822960" y="5760720"/>
            <a:ext cx="91440" cy="91440"/>
          </a:xfrm>
          <a:prstGeom prst="ellipse">
            <a:avLst/>
          </a:prstGeom>
          <a:solidFill>
            <a:srgbClr val="B45309"/>
          </a:solidFill>
          <a:ln/>
        </p:spPr>
      </p:sp>
      <p:sp>
        <p:nvSpPr>
          <p:cNvPr id="21" name="Text 19"/>
          <p:cNvSpPr/>
          <p:nvPr/>
        </p:nvSpPr>
        <p:spPr>
          <a:xfrm>
            <a:off x="3505124" y="4800600"/>
            <a:ext cx="2316404" cy="685800"/>
          </a:xfrm>
          <a:prstGeom prst="rect">
            <a:avLst/>
          </a:prstGeom>
          <a:noFill/>
          <a:ln/>
        </p:spPr>
        <p:txBody>
          <a:bodyPr wrap="square" rtlCol="0" anchor="b"/>
          <a:lstStyle/>
          <a:p>
            <a:pPr marL="0" indent="0" algn="l">
              <a:buNone/>
            </a:pPr>
            <a:r>
              <a:rPr lang="en-US" sz="3000" b="1" dirty="0">
                <a:solidFill>
                  <a:srgbClr val="0F6E68"/>
                </a:solidFill>
                <a:latin typeface="Century Schoolbook" pitchFamily="34" charset="0"/>
                <a:ea typeface="Century Schoolbook" pitchFamily="34" charset="-122"/>
                <a:cs typeface="Century Schoolbook" pitchFamily="34" charset="-120"/>
              </a:rPr>
              <a:t>10×</a:t>
            </a:r>
            <a:endParaRPr lang="en-US" sz="3000" dirty="0"/>
          </a:p>
        </p:txBody>
      </p:sp>
      <p:sp>
        <p:nvSpPr>
          <p:cNvPr id="22" name="Text 20"/>
          <p:cNvSpPr/>
          <p:nvPr/>
        </p:nvSpPr>
        <p:spPr>
          <a:xfrm>
            <a:off x="3523412" y="5879592"/>
            <a:ext cx="2407844" cy="274320"/>
          </a:xfrm>
          <a:prstGeom prst="rect">
            <a:avLst/>
          </a:prstGeom>
          <a:noFill/>
          <a:ln/>
        </p:spPr>
        <p:txBody>
          <a:bodyPr wrap="square" rtlCol="0" anchor="ctr"/>
          <a:lstStyle/>
          <a:p>
            <a:pPr marL="0" indent="0">
              <a:buNone/>
            </a:pPr>
            <a:r>
              <a:rPr lang="en-US" sz="1150" dirty="0">
                <a:solidFill>
                  <a:srgbClr val="5B5E66"/>
                </a:solidFill>
                <a:latin typeface="Arial" pitchFamily="34" charset="0"/>
                <a:ea typeface="Arial" pitchFamily="34" charset="-122"/>
                <a:cs typeface="Arial" pitchFamily="34" charset="-120"/>
              </a:rPr>
              <a:t>Test</a:t>
            </a:r>
            <a:endParaRPr lang="en-US" sz="1150" dirty="0"/>
          </a:p>
        </p:txBody>
      </p:sp>
      <p:sp>
        <p:nvSpPr>
          <p:cNvPr id="23" name="Shape 21"/>
          <p:cNvSpPr/>
          <p:nvPr/>
        </p:nvSpPr>
        <p:spPr>
          <a:xfrm>
            <a:off x="3505124" y="5760720"/>
            <a:ext cx="91440" cy="91440"/>
          </a:xfrm>
          <a:prstGeom prst="ellipse">
            <a:avLst/>
          </a:prstGeom>
          <a:solidFill>
            <a:srgbClr val="0F6E68"/>
          </a:solidFill>
          <a:ln/>
        </p:spPr>
      </p:sp>
      <p:sp>
        <p:nvSpPr>
          <p:cNvPr id="24" name="Text 22"/>
          <p:cNvSpPr/>
          <p:nvPr/>
        </p:nvSpPr>
        <p:spPr>
          <a:xfrm>
            <a:off x="6187288" y="4800600"/>
            <a:ext cx="2316404" cy="685800"/>
          </a:xfrm>
          <a:prstGeom prst="rect">
            <a:avLst/>
          </a:prstGeom>
          <a:noFill/>
          <a:ln/>
        </p:spPr>
        <p:txBody>
          <a:bodyPr wrap="square" rtlCol="0" anchor="b"/>
          <a:lstStyle/>
          <a:p>
            <a:pPr marL="0" indent="0" algn="l">
              <a:buNone/>
            </a:pPr>
            <a:r>
              <a:rPr lang="en-US" sz="3900" b="1" dirty="0">
                <a:solidFill>
                  <a:srgbClr val="1A1C22"/>
                </a:solidFill>
                <a:latin typeface="Century Schoolbook" pitchFamily="34" charset="0"/>
                <a:ea typeface="Century Schoolbook" pitchFamily="34" charset="-122"/>
                <a:cs typeface="Century Schoolbook" pitchFamily="34" charset="-120"/>
              </a:rPr>
              <a:t>100×</a:t>
            </a:r>
            <a:endParaRPr lang="en-US" sz="3900" dirty="0"/>
          </a:p>
        </p:txBody>
      </p:sp>
      <p:sp>
        <p:nvSpPr>
          <p:cNvPr id="25" name="Text 23"/>
          <p:cNvSpPr/>
          <p:nvPr/>
        </p:nvSpPr>
        <p:spPr>
          <a:xfrm>
            <a:off x="6205576" y="5879592"/>
            <a:ext cx="2407844" cy="274320"/>
          </a:xfrm>
          <a:prstGeom prst="rect">
            <a:avLst/>
          </a:prstGeom>
          <a:noFill/>
          <a:ln/>
        </p:spPr>
        <p:txBody>
          <a:bodyPr wrap="square" rtlCol="0" anchor="ctr"/>
          <a:lstStyle/>
          <a:p>
            <a:pPr marL="0" indent="0">
              <a:buNone/>
            </a:pPr>
            <a:r>
              <a:rPr lang="en-US" sz="1150" dirty="0">
                <a:solidFill>
                  <a:srgbClr val="5B5E66"/>
                </a:solidFill>
                <a:latin typeface="Arial" pitchFamily="34" charset="0"/>
                <a:ea typeface="Arial" pitchFamily="34" charset="-122"/>
                <a:cs typeface="Arial" pitchFamily="34" charset="-120"/>
              </a:rPr>
              <a:t>Production</a:t>
            </a:r>
            <a:endParaRPr lang="en-US" sz="1150" dirty="0"/>
          </a:p>
        </p:txBody>
      </p:sp>
      <p:sp>
        <p:nvSpPr>
          <p:cNvPr id="26" name="Shape 24"/>
          <p:cNvSpPr/>
          <p:nvPr/>
        </p:nvSpPr>
        <p:spPr>
          <a:xfrm>
            <a:off x="6187288" y="5760720"/>
            <a:ext cx="91440" cy="91440"/>
          </a:xfrm>
          <a:prstGeom prst="ellipse">
            <a:avLst/>
          </a:prstGeom>
          <a:solidFill>
            <a:srgbClr val="1A1C22"/>
          </a:solidFill>
          <a:ln/>
        </p:spPr>
      </p:sp>
      <p:sp>
        <p:nvSpPr>
          <p:cNvPr id="27" name="Text 25"/>
          <p:cNvSpPr/>
          <p:nvPr/>
        </p:nvSpPr>
        <p:spPr>
          <a:xfrm>
            <a:off x="8869451" y="4800600"/>
            <a:ext cx="2316404" cy="685800"/>
          </a:xfrm>
          <a:prstGeom prst="rect">
            <a:avLst/>
          </a:prstGeom>
          <a:noFill/>
          <a:ln/>
        </p:spPr>
        <p:txBody>
          <a:bodyPr wrap="square" rtlCol="0" anchor="b"/>
          <a:lstStyle/>
          <a:p>
            <a:pPr marL="0" indent="0" algn="l">
              <a:buNone/>
            </a:pPr>
            <a:r>
              <a:rPr lang="en-US" sz="4800" b="1" dirty="0">
                <a:solidFill>
                  <a:srgbClr val="B0453A"/>
                </a:solidFill>
                <a:latin typeface="Century Schoolbook" pitchFamily="34" charset="0"/>
                <a:ea typeface="Century Schoolbook" pitchFamily="34" charset="-122"/>
                <a:cs typeface="Century Schoolbook" pitchFamily="34" charset="-120"/>
              </a:rPr>
              <a:t>~1000×</a:t>
            </a:r>
            <a:endParaRPr lang="en-US" sz="4800" dirty="0"/>
          </a:p>
        </p:txBody>
      </p:sp>
      <p:sp>
        <p:nvSpPr>
          <p:cNvPr id="28" name="Text 26"/>
          <p:cNvSpPr/>
          <p:nvPr/>
        </p:nvSpPr>
        <p:spPr>
          <a:xfrm>
            <a:off x="8887739" y="5879592"/>
            <a:ext cx="2407844" cy="274320"/>
          </a:xfrm>
          <a:prstGeom prst="rect">
            <a:avLst/>
          </a:prstGeom>
          <a:noFill/>
          <a:ln/>
        </p:spPr>
        <p:txBody>
          <a:bodyPr wrap="square" rtlCol="0" anchor="ctr"/>
          <a:lstStyle/>
          <a:p>
            <a:pPr marL="0" indent="0">
              <a:buNone/>
            </a:pPr>
            <a:r>
              <a:rPr lang="en-US" sz="1150" dirty="0">
                <a:solidFill>
                  <a:srgbClr val="5B5E66"/>
                </a:solidFill>
                <a:latin typeface="Arial" pitchFamily="34" charset="0"/>
                <a:ea typeface="Arial" pitchFamily="34" charset="-122"/>
                <a:cs typeface="Arial" pitchFamily="34" charset="-120"/>
              </a:rPr>
              <a:t>Warranty + brand</a:t>
            </a:r>
            <a:endParaRPr lang="en-US" sz="1150" dirty="0"/>
          </a:p>
        </p:txBody>
      </p:sp>
      <p:sp>
        <p:nvSpPr>
          <p:cNvPr id="29" name="Shape 27"/>
          <p:cNvSpPr/>
          <p:nvPr/>
        </p:nvSpPr>
        <p:spPr>
          <a:xfrm>
            <a:off x="8869451" y="5760720"/>
            <a:ext cx="91440" cy="91440"/>
          </a:xfrm>
          <a:prstGeom prst="ellipse">
            <a:avLst/>
          </a:prstGeom>
          <a:solidFill>
            <a:srgbClr val="B0453A"/>
          </a:solidFill>
          <a:ln/>
        </p:spPr>
      </p:sp>
      <p:sp>
        <p:nvSpPr>
          <p:cNvPr id="30" name="Text 28"/>
          <p:cNvSpPr/>
          <p:nvPr/>
        </p:nvSpPr>
        <p:spPr>
          <a:xfrm>
            <a:off x="731520" y="6172200"/>
            <a:ext cx="10728655" cy="274320"/>
          </a:xfrm>
          <a:prstGeom prst="rect">
            <a:avLst/>
          </a:prstGeom>
          <a:noFill/>
          <a:ln/>
        </p:spPr>
        <p:txBody>
          <a:bodyPr wrap="square" rtlCol="0" anchor="ctr"/>
          <a:lstStyle/>
          <a:p>
            <a:pPr marL="0" indent="0">
              <a:buNone/>
            </a:pPr>
            <a:r>
              <a:rPr lang="en-US" sz="1400" i="1" dirty="0">
                <a:solidFill>
                  <a:srgbClr val="1A1C22"/>
                </a:solidFill>
                <a:latin typeface="Century Schoolbook" pitchFamily="34" charset="0"/>
                <a:ea typeface="Century Schoolbook" pitchFamily="34" charset="-122"/>
                <a:cs typeface="Century Schoolbook" pitchFamily="34" charset="-120"/>
              </a:rPr>
              <a:t>One prevented incident — or one prevented campaign — pays for the platform many times over.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08</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08</a:t>
            </a:r>
            <a:r>
              <a:rPr lang="en-US" sz="1150" b="1" kern="0" spc="200" dirty="0">
                <a:solidFill>
                  <a:srgbClr val="3A3D45"/>
                </a:solidFill>
                <a:latin typeface="Courier New" pitchFamily="34" charset="0"/>
                <a:ea typeface="Courier New" pitchFamily="34" charset="-122"/>
                <a:cs typeface="Courier New" pitchFamily="34" charset="-120"/>
              </a:rPr>
              <a:t>  —  BENEFITS &amp; VIABILITY</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08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Any new domain is more data —</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not more code.</a:t>
            </a:r>
            <a:endParaRPr lang="en-US" sz="3300" dirty="0"/>
          </a:p>
        </p:txBody>
      </p:sp>
      <p:sp>
        <p:nvSpPr>
          <p:cNvPr id="9" name="Text 7"/>
          <p:cNvSpPr/>
          <p:nvPr/>
        </p:nvSpPr>
        <p:spPr>
          <a:xfrm>
            <a:off x="731520" y="2286000"/>
            <a:ext cx="10728655" cy="1005840"/>
          </a:xfrm>
          <a:prstGeom prst="rect">
            <a:avLst/>
          </a:prstGeom>
          <a:noFill/>
          <a:ln/>
        </p:spPr>
        <p:txBody>
          <a:bodyPr wrap="square" rtlCol="0" anchor="ctr"/>
          <a:lstStyle/>
          <a:p>
            <a:pPr marL="0" indent="0" algn="l">
              <a:lnSpc>
                <a:spcPct val="108000"/>
              </a:lnSpc>
              <a:buNone/>
            </a:pPr>
            <a:r>
              <a:rPr lang="en-US" sz="2300" dirty="0">
                <a:solidFill>
                  <a:srgbClr val="B45309"/>
                </a:solidFill>
                <a:latin typeface="Century Schoolbook" pitchFamily="34" charset="0"/>
                <a:ea typeface="Century Schoolbook" pitchFamily="34" charset="-122"/>
                <a:cs typeface="Century Schoolbook" pitchFamily="34" charset="-120"/>
              </a:rPr>
              <a:t>“</a:t>
            </a:r>
            <a:r>
              <a:rPr lang="en-US" sz="2300" dirty="0">
                <a:solidFill>
                  <a:srgbClr val="1A1C22"/>
                </a:solidFill>
                <a:latin typeface="Century Schoolbook" pitchFamily="34" charset="0"/>
                <a:ea typeface="Century Schoolbook" pitchFamily="34" charset="-122"/>
                <a:cs typeface="Century Schoolbook" pitchFamily="34" charset="-120"/>
              </a:rPr>
              <a:t>The automotive build is the DevOps core re-pointed at a failure corpus — a powertrain cameo shipped with </a:t>
            </a:r>
            <a:r>
              <a:rPr lang="en-US" sz="2300" i="1" dirty="0">
                <a:solidFill>
                  <a:srgbClr val="0F6E68"/>
                </a:solidFill>
                <a:latin typeface="Century Schoolbook" pitchFamily="34" charset="0"/>
                <a:ea typeface="Century Schoolbook" pitchFamily="34" charset="-122"/>
                <a:cs typeface="Century Schoolbook" pitchFamily="34" charset="-120"/>
              </a:rPr>
              <a:t>zero code change.</a:t>
            </a:r>
            <a:r>
              <a:rPr lang="en-US" sz="2300" dirty="0">
                <a:solidFill>
                  <a:srgbClr val="B45309"/>
                </a:solidFill>
                <a:latin typeface="Century Schoolbook" pitchFamily="34" charset="0"/>
                <a:ea typeface="Century Schoolbook" pitchFamily="34" charset="-122"/>
                <a:cs typeface="Century Schoolbook" pitchFamily="34" charset="-120"/>
              </a:rPr>
              <a:t>”</a:t>
            </a:r>
            <a:endParaRPr lang="en-US" sz="2300" dirty="0"/>
          </a:p>
        </p:txBody>
      </p:sp>
      <p:sp>
        <p:nvSpPr>
          <p:cNvPr id="10" name="Shape 8"/>
          <p:cNvSpPr/>
          <p:nvPr/>
        </p:nvSpPr>
        <p:spPr>
          <a:xfrm>
            <a:off x="731520" y="3611880"/>
            <a:ext cx="10728655" cy="0"/>
          </a:xfrm>
          <a:prstGeom prst="line">
            <a:avLst/>
          </a:prstGeom>
          <a:noFill/>
          <a:ln w="12700">
            <a:solidFill>
              <a:srgbClr val="D9D8D2"/>
            </a:solidFill>
            <a:prstDash val="solid"/>
          </a:ln>
        </p:spPr>
      </p:sp>
      <p:sp>
        <p:nvSpPr>
          <p:cNvPr id="11" name="Text 9"/>
          <p:cNvSpPr/>
          <p:nvPr/>
        </p:nvSpPr>
        <p:spPr>
          <a:xfrm>
            <a:off x="731520" y="3931920"/>
            <a:ext cx="685800" cy="640080"/>
          </a:xfrm>
          <a:prstGeom prst="rect">
            <a:avLst/>
          </a:prstGeom>
          <a:noFill/>
          <a:ln/>
        </p:spPr>
        <p:txBody>
          <a:bodyPr wrap="square" rtlCol="0" anchor="ctr"/>
          <a:lstStyle/>
          <a:p>
            <a:pPr marL="0" indent="0">
              <a:buNone/>
            </a:pPr>
            <a:r>
              <a:rPr lang="en-US" sz="3400" b="1" dirty="0">
                <a:solidFill>
                  <a:srgbClr val="B45309"/>
                </a:solidFill>
                <a:latin typeface="Century Schoolbook" pitchFamily="34" charset="0"/>
                <a:ea typeface="Century Schoolbook" pitchFamily="34" charset="-122"/>
                <a:cs typeface="Century Schoolbook" pitchFamily="34" charset="-120"/>
              </a:rPr>
              <a:t>01</a:t>
            </a:r>
            <a:endParaRPr lang="en-US" sz="3400" dirty="0"/>
          </a:p>
        </p:txBody>
      </p:sp>
      <p:sp>
        <p:nvSpPr>
          <p:cNvPr id="12" name="Text 10"/>
          <p:cNvSpPr/>
          <p:nvPr/>
        </p:nvSpPr>
        <p:spPr>
          <a:xfrm>
            <a:off x="1508760" y="3950208"/>
            <a:ext cx="4038448" cy="320040"/>
          </a:xfrm>
          <a:prstGeom prst="rect">
            <a:avLst/>
          </a:prstGeom>
          <a:noFill/>
          <a:ln/>
        </p:spPr>
        <p:txBody>
          <a:bodyPr wrap="square" rtlCol="0" anchor="ctr"/>
          <a:lstStyle/>
          <a:p>
            <a:pPr marL="0" indent="0">
              <a:buNone/>
            </a:pPr>
            <a:r>
              <a:rPr lang="en-US" sz="1650" b="1" dirty="0">
                <a:solidFill>
                  <a:srgbClr val="1A1C22"/>
                </a:solidFill>
                <a:latin typeface="Century Schoolbook" pitchFamily="34" charset="0"/>
                <a:ea typeface="Century Schoolbook" pitchFamily="34" charset="-122"/>
                <a:cs typeface="Century Schoolbook" pitchFamily="34" charset="-120"/>
              </a:rPr>
              <a:t>Generalises instantly</a:t>
            </a:r>
            <a:endParaRPr lang="en-US" sz="1650" dirty="0"/>
          </a:p>
        </p:txBody>
      </p:sp>
      <p:sp>
        <p:nvSpPr>
          <p:cNvPr id="13" name="Text 11"/>
          <p:cNvSpPr/>
          <p:nvPr/>
        </p:nvSpPr>
        <p:spPr>
          <a:xfrm>
            <a:off x="1508760" y="4315968"/>
            <a:ext cx="4038448" cy="54864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New subsystem or vertical = ingest records. The graph and tools are domain-agnostic.</a:t>
            </a:r>
            <a:endParaRPr lang="en-US" sz="1200" dirty="0"/>
          </a:p>
        </p:txBody>
      </p:sp>
      <p:sp>
        <p:nvSpPr>
          <p:cNvPr id="14" name="Text 12"/>
          <p:cNvSpPr/>
          <p:nvPr/>
        </p:nvSpPr>
        <p:spPr>
          <a:xfrm>
            <a:off x="6644488" y="3931920"/>
            <a:ext cx="685800" cy="640080"/>
          </a:xfrm>
          <a:prstGeom prst="rect">
            <a:avLst/>
          </a:prstGeom>
          <a:noFill/>
          <a:ln/>
        </p:spPr>
        <p:txBody>
          <a:bodyPr wrap="square" rtlCol="0" anchor="ctr"/>
          <a:lstStyle/>
          <a:p>
            <a:pPr marL="0" indent="0">
              <a:buNone/>
            </a:pPr>
            <a:r>
              <a:rPr lang="en-US" sz="3400" b="1" dirty="0">
                <a:solidFill>
                  <a:srgbClr val="0F6E68"/>
                </a:solidFill>
                <a:latin typeface="Century Schoolbook" pitchFamily="34" charset="0"/>
                <a:ea typeface="Century Schoolbook" pitchFamily="34" charset="-122"/>
                <a:cs typeface="Century Schoolbook" pitchFamily="34" charset="-120"/>
              </a:rPr>
              <a:t>02</a:t>
            </a:r>
            <a:endParaRPr lang="en-US" sz="3400" dirty="0"/>
          </a:p>
        </p:txBody>
      </p:sp>
      <p:sp>
        <p:nvSpPr>
          <p:cNvPr id="15" name="Text 13"/>
          <p:cNvSpPr/>
          <p:nvPr/>
        </p:nvSpPr>
        <p:spPr>
          <a:xfrm>
            <a:off x="7421728" y="3950208"/>
            <a:ext cx="4038448" cy="320040"/>
          </a:xfrm>
          <a:prstGeom prst="rect">
            <a:avLst/>
          </a:prstGeom>
          <a:noFill/>
          <a:ln/>
        </p:spPr>
        <p:txBody>
          <a:bodyPr wrap="square" rtlCol="0" anchor="ctr"/>
          <a:lstStyle/>
          <a:p>
            <a:pPr marL="0" indent="0">
              <a:buNone/>
            </a:pPr>
            <a:r>
              <a:rPr lang="en-US" sz="1650" b="1" dirty="0">
                <a:solidFill>
                  <a:srgbClr val="1A1C22"/>
                </a:solidFill>
                <a:latin typeface="Century Schoolbook" pitchFamily="34" charset="0"/>
                <a:ea typeface="Century Schoolbook" pitchFamily="34" charset="-122"/>
                <a:cs typeface="Century Schoolbook" pitchFamily="34" charset="-120"/>
              </a:rPr>
              <a:t>Cost-efficient</a:t>
            </a:r>
            <a:endParaRPr lang="en-US" sz="1650" dirty="0"/>
          </a:p>
        </p:txBody>
      </p:sp>
      <p:sp>
        <p:nvSpPr>
          <p:cNvPr id="16" name="Text 14"/>
          <p:cNvSpPr/>
          <p:nvPr/>
        </p:nvSpPr>
        <p:spPr>
          <a:xfrm>
            <a:off x="7421728" y="4315968"/>
            <a:ext cx="4038448" cy="54864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Graph-based context compression cuts LLM token cost on every query.</a:t>
            </a:r>
            <a:endParaRPr lang="en-US" sz="1200" dirty="0"/>
          </a:p>
        </p:txBody>
      </p:sp>
      <p:sp>
        <p:nvSpPr>
          <p:cNvPr id="17" name="Text 15"/>
          <p:cNvSpPr/>
          <p:nvPr/>
        </p:nvSpPr>
        <p:spPr>
          <a:xfrm>
            <a:off x="731520" y="5212080"/>
            <a:ext cx="685800" cy="640080"/>
          </a:xfrm>
          <a:prstGeom prst="rect">
            <a:avLst/>
          </a:prstGeom>
          <a:noFill/>
          <a:ln/>
        </p:spPr>
        <p:txBody>
          <a:bodyPr wrap="square" rtlCol="0" anchor="ctr"/>
          <a:lstStyle/>
          <a:p>
            <a:pPr marL="0" indent="0">
              <a:buNone/>
            </a:pPr>
            <a:r>
              <a:rPr lang="en-US" sz="3400" b="1" dirty="0">
                <a:solidFill>
                  <a:srgbClr val="B45309"/>
                </a:solidFill>
                <a:latin typeface="Century Schoolbook" pitchFamily="34" charset="0"/>
                <a:ea typeface="Century Schoolbook" pitchFamily="34" charset="-122"/>
                <a:cs typeface="Century Schoolbook" pitchFamily="34" charset="-120"/>
              </a:rPr>
              <a:t>03</a:t>
            </a:r>
            <a:endParaRPr lang="en-US" sz="3400" dirty="0"/>
          </a:p>
        </p:txBody>
      </p:sp>
      <p:sp>
        <p:nvSpPr>
          <p:cNvPr id="18" name="Text 16"/>
          <p:cNvSpPr/>
          <p:nvPr/>
        </p:nvSpPr>
        <p:spPr>
          <a:xfrm>
            <a:off x="1508760" y="5230368"/>
            <a:ext cx="4038448" cy="320040"/>
          </a:xfrm>
          <a:prstGeom prst="rect">
            <a:avLst/>
          </a:prstGeom>
          <a:noFill/>
          <a:ln/>
        </p:spPr>
        <p:txBody>
          <a:bodyPr wrap="square" rtlCol="0" anchor="ctr"/>
          <a:lstStyle/>
          <a:p>
            <a:pPr marL="0" indent="0">
              <a:buNone/>
            </a:pPr>
            <a:r>
              <a:rPr lang="en-US" sz="1650" b="1" dirty="0">
                <a:solidFill>
                  <a:srgbClr val="1A1C22"/>
                </a:solidFill>
                <a:latin typeface="Century Schoolbook" pitchFamily="34" charset="0"/>
                <a:ea typeface="Century Schoolbook" pitchFamily="34" charset="-122"/>
                <a:cs typeface="Century Schoolbook" pitchFamily="34" charset="-120"/>
              </a:rPr>
              <a:t>Production-minded</a:t>
            </a:r>
            <a:endParaRPr lang="en-US" sz="1650" dirty="0"/>
          </a:p>
        </p:txBody>
      </p:sp>
      <p:sp>
        <p:nvSpPr>
          <p:cNvPr id="19" name="Text 17"/>
          <p:cNvSpPr/>
          <p:nvPr/>
        </p:nvSpPr>
        <p:spPr>
          <a:xfrm>
            <a:off x="1508760" y="5596128"/>
            <a:ext cx="4038448" cy="54864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Self-healing stores, a single write path, graceful degradation throughout.</a:t>
            </a:r>
            <a:endParaRPr lang="en-US" sz="1200" dirty="0"/>
          </a:p>
        </p:txBody>
      </p:sp>
      <p:sp>
        <p:nvSpPr>
          <p:cNvPr id="20" name="Text 18"/>
          <p:cNvSpPr/>
          <p:nvPr/>
        </p:nvSpPr>
        <p:spPr>
          <a:xfrm>
            <a:off x="6644488" y="5212080"/>
            <a:ext cx="685800" cy="640080"/>
          </a:xfrm>
          <a:prstGeom prst="rect">
            <a:avLst/>
          </a:prstGeom>
          <a:noFill/>
          <a:ln/>
        </p:spPr>
        <p:txBody>
          <a:bodyPr wrap="square" rtlCol="0" anchor="ctr"/>
          <a:lstStyle/>
          <a:p>
            <a:pPr marL="0" indent="0">
              <a:buNone/>
            </a:pPr>
            <a:r>
              <a:rPr lang="en-US" sz="3400" b="1" dirty="0">
                <a:solidFill>
                  <a:srgbClr val="0F6E68"/>
                </a:solidFill>
                <a:latin typeface="Century Schoolbook" pitchFamily="34" charset="0"/>
                <a:ea typeface="Century Schoolbook" pitchFamily="34" charset="-122"/>
                <a:cs typeface="Century Schoolbook" pitchFamily="34" charset="-120"/>
              </a:rPr>
              <a:t>04</a:t>
            </a:r>
            <a:endParaRPr lang="en-US" sz="3400" dirty="0"/>
          </a:p>
        </p:txBody>
      </p:sp>
      <p:sp>
        <p:nvSpPr>
          <p:cNvPr id="21" name="Text 19"/>
          <p:cNvSpPr/>
          <p:nvPr/>
        </p:nvSpPr>
        <p:spPr>
          <a:xfrm>
            <a:off x="7421728" y="5230368"/>
            <a:ext cx="4038448" cy="320040"/>
          </a:xfrm>
          <a:prstGeom prst="rect">
            <a:avLst/>
          </a:prstGeom>
          <a:noFill/>
          <a:ln/>
        </p:spPr>
        <p:txBody>
          <a:bodyPr wrap="square" rtlCol="0" anchor="ctr"/>
          <a:lstStyle/>
          <a:p>
            <a:pPr marL="0" indent="0">
              <a:buNone/>
            </a:pPr>
            <a:r>
              <a:rPr lang="en-US" sz="1650" b="1" dirty="0">
                <a:solidFill>
                  <a:srgbClr val="1A1C22"/>
                </a:solidFill>
                <a:latin typeface="Century Schoolbook" pitchFamily="34" charset="0"/>
                <a:ea typeface="Century Schoolbook" pitchFamily="34" charset="-122"/>
                <a:cs typeface="Century Schoolbook" pitchFamily="34" charset="-120"/>
              </a:rPr>
              <a:t>Demo-proof &amp; viable</a:t>
            </a:r>
            <a:endParaRPr lang="en-US" sz="1650" dirty="0"/>
          </a:p>
        </p:txBody>
      </p:sp>
      <p:sp>
        <p:nvSpPr>
          <p:cNvPr id="22" name="Text 20"/>
          <p:cNvSpPr/>
          <p:nvPr/>
        </p:nvSpPr>
        <p:spPr>
          <a:xfrm>
            <a:off x="7421728" y="5596128"/>
            <a:ext cx="4038448" cy="54864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Runs offline via mock fallback; one codebase becomes many products.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09</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09</a:t>
            </a:r>
            <a:r>
              <a:rPr lang="en-US" sz="1150" b="1" kern="0" spc="200" dirty="0">
                <a:solidFill>
                  <a:srgbClr val="3A3D45"/>
                </a:solidFill>
                <a:latin typeface="Courier New" pitchFamily="34" charset="0"/>
                <a:ea typeface="Courier New" pitchFamily="34" charset="-122"/>
                <a:cs typeface="Courier New" pitchFamily="34" charset="-120"/>
              </a:rPr>
              <a:t>  —  WORKING DEMO</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09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Two live hero flows — same engine,</a:t>
            </a:r>
            <a:endParaRPr lang="en-US" sz="3300" dirty="0"/>
          </a:p>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offline-safe.</a:t>
            </a:r>
            <a:endParaRPr lang="en-US" sz="3300" dirty="0"/>
          </a:p>
        </p:txBody>
      </p:sp>
      <p:sp>
        <p:nvSpPr>
          <p:cNvPr id="9" name="Shape 7"/>
          <p:cNvSpPr/>
          <p:nvPr/>
        </p:nvSpPr>
        <p:spPr>
          <a:xfrm>
            <a:off x="6095848" y="2423160"/>
            <a:ext cx="0" cy="2926080"/>
          </a:xfrm>
          <a:prstGeom prst="line">
            <a:avLst/>
          </a:prstGeom>
          <a:noFill/>
          <a:ln w="12700">
            <a:solidFill>
              <a:srgbClr val="D9D8D2"/>
            </a:solidFill>
            <a:prstDash val="solid"/>
          </a:ln>
        </p:spPr>
      </p:sp>
      <p:sp>
        <p:nvSpPr>
          <p:cNvPr id="10" name="Text 8"/>
          <p:cNvSpPr/>
          <p:nvPr/>
        </p:nvSpPr>
        <p:spPr>
          <a:xfrm>
            <a:off x="731520" y="2423160"/>
            <a:ext cx="2743200" cy="274320"/>
          </a:xfrm>
          <a:prstGeom prst="rect">
            <a:avLst/>
          </a:prstGeom>
          <a:noFill/>
          <a:ln/>
        </p:spPr>
        <p:txBody>
          <a:bodyPr wrap="square" rtlCol="0" anchor="ctr"/>
          <a:lstStyle/>
          <a:p>
            <a:pPr marL="0" indent="0" algn="l">
              <a:buNone/>
            </a:pPr>
            <a:r>
              <a:rPr lang="en-US" sz="1050" kern="0" spc="200" dirty="0">
                <a:solidFill>
                  <a:srgbClr val="B45309"/>
                </a:solidFill>
                <a:latin typeface="Courier New" pitchFamily="34" charset="0"/>
                <a:ea typeface="Courier New" pitchFamily="34" charset="-122"/>
                <a:cs typeface="Courier New" pitchFamily="34" charset="-120"/>
              </a:rPr>
              <a:t>●  </a:t>
            </a:r>
            <a:r>
              <a:rPr lang="en-US" sz="1050" b="1" kern="0" spc="200" dirty="0">
                <a:solidFill>
                  <a:srgbClr val="B45309"/>
                </a:solidFill>
                <a:latin typeface="Courier New" pitchFamily="34" charset="0"/>
                <a:ea typeface="Courier New" pitchFamily="34" charset="-122"/>
                <a:cs typeface="Courier New" pitchFamily="34" charset="-120"/>
              </a:rPr>
              <a:t>DEVOPS</a:t>
            </a:r>
            <a:endParaRPr lang="en-US" sz="1050" dirty="0"/>
          </a:p>
        </p:txBody>
      </p:sp>
      <p:sp>
        <p:nvSpPr>
          <p:cNvPr id="11" name="Text 9"/>
          <p:cNvSpPr/>
          <p:nvPr/>
        </p:nvSpPr>
        <p:spPr>
          <a:xfrm>
            <a:off x="731520" y="2880360"/>
            <a:ext cx="457200" cy="36576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01</a:t>
            </a:r>
            <a:endParaRPr lang="en-US" sz="1700" dirty="0"/>
          </a:p>
        </p:txBody>
      </p:sp>
      <p:sp>
        <p:nvSpPr>
          <p:cNvPr id="12" name="Text 10"/>
          <p:cNvSpPr/>
          <p:nvPr/>
        </p:nvSpPr>
        <p:spPr>
          <a:xfrm>
            <a:off x="1280160" y="2898648"/>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Broken build — CI goes red</a:t>
            </a:r>
            <a:endParaRPr lang="en-US" sz="1300" dirty="0"/>
          </a:p>
        </p:txBody>
      </p:sp>
      <p:sp>
        <p:nvSpPr>
          <p:cNvPr id="13" name="Text 11"/>
          <p:cNvSpPr/>
          <p:nvPr/>
        </p:nvSpPr>
        <p:spPr>
          <a:xfrm>
            <a:off x="731520" y="3392424"/>
            <a:ext cx="457200" cy="36576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02</a:t>
            </a:r>
            <a:endParaRPr lang="en-US" sz="1700" dirty="0"/>
          </a:p>
        </p:txBody>
      </p:sp>
      <p:sp>
        <p:nvSpPr>
          <p:cNvPr id="14" name="Text 12"/>
          <p:cNvSpPr/>
          <p:nvPr/>
        </p:nvSpPr>
        <p:spPr>
          <a:xfrm>
            <a:off x="1280160" y="3410712"/>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Agent diagnoses (logs + memory, SSE)</a:t>
            </a:r>
            <a:endParaRPr lang="en-US" sz="1300" dirty="0"/>
          </a:p>
        </p:txBody>
      </p:sp>
      <p:sp>
        <p:nvSpPr>
          <p:cNvPr id="15" name="Text 13"/>
          <p:cNvSpPr/>
          <p:nvPr/>
        </p:nvSpPr>
        <p:spPr>
          <a:xfrm>
            <a:off x="731520" y="3904488"/>
            <a:ext cx="457200" cy="36576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03</a:t>
            </a:r>
            <a:endParaRPr lang="en-US" sz="1700" dirty="0"/>
          </a:p>
        </p:txBody>
      </p:sp>
      <p:sp>
        <p:nvSpPr>
          <p:cNvPr id="16" name="Text 14"/>
          <p:cNvSpPr/>
          <p:nvPr/>
        </p:nvSpPr>
        <p:spPr>
          <a:xfrm>
            <a:off x="1280160" y="3922776"/>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Recalls incident #421 · 94% match</a:t>
            </a:r>
            <a:endParaRPr lang="en-US" sz="1300" dirty="0"/>
          </a:p>
        </p:txBody>
      </p:sp>
      <p:sp>
        <p:nvSpPr>
          <p:cNvPr id="17" name="Text 15"/>
          <p:cNvSpPr/>
          <p:nvPr/>
        </p:nvSpPr>
        <p:spPr>
          <a:xfrm>
            <a:off x="731520" y="4416552"/>
            <a:ext cx="457200" cy="36576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04</a:t>
            </a:r>
            <a:endParaRPr lang="en-US" sz="1700" dirty="0"/>
          </a:p>
        </p:txBody>
      </p:sp>
      <p:sp>
        <p:nvSpPr>
          <p:cNvPr id="18" name="Text 16"/>
          <p:cNvSpPr/>
          <p:nvPr/>
        </p:nvSpPr>
        <p:spPr>
          <a:xfrm>
            <a:off x="1280160" y="4434840"/>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Opens a PR — explicit human approve</a:t>
            </a:r>
            <a:endParaRPr lang="en-US" sz="1300" dirty="0"/>
          </a:p>
        </p:txBody>
      </p:sp>
      <p:sp>
        <p:nvSpPr>
          <p:cNvPr id="19" name="Text 17"/>
          <p:cNvSpPr/>
          <p:nvPr/>
        </p:nvSpPr>
        <p:spPr>
          <a:xfrm>
            <a:off x="731520" y="4928616"/>
            <a:ext cx="457200" cy="36576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05</a:t>
            </a:r>
            <a:endParaRPr lang="en-US" sz="1700" dirty="0"/>
          </a:p>
        </p:txBody>
      </p:sp>
      <p:sp>
        <p:nvSpPr>
          <p:cNvPr id="20" name="Text 18"/>
          <p:cNvSpPr/>
          <p:nvPr/>
        </p:nvSpPr>
        <p:spPr>
          <a:xfrm>
            <a:off x="1280160" y="4946904"/>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Rebuild green → written back to memory</a:t>
            </a:r>
            <a:endParaRPr lang="en-US" sz="1300" dirty="0"/>
          </a:p>
        </p:txBody>
      </p:sp>
      <p:sp>
        <p:nvSpPr>
          <p:cNvPr id="21" name="Text 19"/>
          <p:cNvSpPr/>
          <p:nvPr/>
        </p:nvSpPr>
        <p:spPr>
          <a:xfrm>
            <a:off x="6507328" y="2423160"/>
            <a:ext cx="2743200" cy="274320"/>
          </a:xfrm>
          <a:prstGeom prst="rect">
            <a:avLst/>
          </a:prstGeom>
          <a:noFill/>
          <a:ln/>
        </p:spPr>
        <p:txBody>
          <a:bodyPr wrap="square" rtlCol="0" anchor="ctr"/>
          <a:lstStyle/>
          <a:p>
            <a:pPr marL="0" indent="0" algn="l">
              <a:buNone/>
            </a:pPr>
            <a:r>
              <a:rPr lang="en-US" sz="1050" kern="0" spc="200" dirty="0">
                <a:solidFill>
                  <a:srgbClr val="0F6E68"/>
                </a:solidFill>
                <a:latin typeface="Courier New" pitchFamily="34" charset="0"/>
                <a:ea typeface="Courier New" pitchFamily="34" charset="-122"/>
                <a:cs typeface="Courier New" pitchFamily="34" charset="-120"/>
              </a:rPr>
              <a:t>●  </a:t>
            </a:r>
            <a:r>
              <a:rPr lang="en-US" sz="1050" b="1" kern="0" spc="200" dirty="0">
                <a:solidFill>
                  <a:srgbClr val="0F6E68"/>
                </a:solidFill>
                <a:latin typeface="Courier New" pitchFamily="34" charset="0"/>
                <a:ea typeface="Courier New" pitchFamily="34" charset="-122"/>
                <a:cs typeface="Courier New" pitchFamily="34" charset="-120"/>
              </a:rPr>
              <a:t>AUTOMOTIVE</a:t>
            </a:r>
            <a:endParaRPr lang="en-US" sz="1050" dirty="0"/>
          </a:p>
        </p:txBody>
      </p:sp>
      <p:sp>
        <p:nvSpPr>
          <p:cNvPr id="22" name="Text 20"/>
          <p:cNvSpPr/>
          <p:nvPr/>
        </p:nvSpPr>
        <p:spPr>
          <a:xfrm>
            <a:off x="6507328" y="2880360"/>
            <a:ext cx="457200" cy="36576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01</a:t>
            </a:r>
            <a:endParaRPr lang="en-US" sz="1700" dirty="0"/>
          </a:p>
        </p:txBody>
      </p:sp>
      <p:sp>
        <p:nvSpPr>
          <p:cNvPr id="23" name="Text 21"/>
          <p:cNvSpPr/>
          <p:nvPr/>
        </p:nvSpPr>
        <p:spPr>
          <a:xfrm>
            <a:off x="7055968" y="2898648"/>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Design query: “impeller speed +15%”</a:t>
            </a:r>
            <a:endParaRPr lang="en-US" sz="1300" dirty="0"/>
          </a:p>
        </p:txBody>
      </p:sp>
      <p:sp>
        <p:nvSpPr>
          <p:cNvPr id="24" name="Text 22"/>
          <p:cNvSpPr/>
          <p:nvPr/>
        </p:nvSpPr>
        <p:spPr>
          <a:xfrm>
            <a:off x="6507328" y="3392424"/>
            <a:ext cx="457200" cy="36576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02</a:t>
            </a:r>
            <a:endParaRPr lang="en-US" sz="1700" dirty="0"/>
          </a:p>
        </p:txBody>
      </p:sp>
      <p:sp>
        <p:nvSpPr>
          <p:cNvPr id="25" name="Text 23"/>
          <p:cNvSpPr/>
          <p:nvPr/>
        </p:nvSpPr>
        <p:spPr>
          <a:xfrm>
            <a:off x="7055968" y="3410712"/>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Pre-flight RAG: Chroma + Neo4j recall</a:t>
            </a:r>
            <a:endParaRPr lang="en-US" sz="1300" dirty="0"/>
          </a:p>
        </p:txBody>
      </p:sp>
      <p:sp>
        <p:nvSpPr>
          <p:cNvPr id="26" name="Text 24"/>
          <p:cNvSpPr/>
          <p:nvPr/>
        </p:nvSpPr>
        <p:spPr>
          <a:xfrm>
            <a:off x="6507328" y="3904488"/>
            <a:ext cx="457200" cy="36576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03</a:t>
            </a:r>
            <a:endParaRPr lang="en-US" sz="1700" dirty="0"/>
          </a:p>
        </p:txBody>
      </p:sp>
      <p:sp>
        <p:nvSpPr>
          <p:cNvPr id="27" name="Text 25"/>
          <p:cNvSpPr/>
          <p:nvPr/>
        </p:nvSpPr>
        <p:spPr>
          <a:xfrm>
            <a:off x="7055968" y="3922776"/>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Claude/GPT ReAct loop over 5 tools</a:t>
            </a:r>
            <a:endParaRPr lang="en-US" sz="1300" dirty="0"/>
          </a:p>
        </p:txBody>
      </p:sp>
      <p:sp>
        <p:nvSpPr>
          <p:cNvPr id="28" name="Text 26"/>
          <p:cNvSpPr/>
          <p:nvPr/>
        </p:nvSpPr>
        <p:spPr>
          <a:xfrm>
            <a:off x="6507328" y="4416552"/>
            <a:ext cx="457200" cy="36576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04</a:t>
            </a:r>
            <a:endParaRPr lang="en-US" sz="1700" dirty="0"/>
          </a:p>
        </p:txBody>
      </p:sp>
      <p:sp>
        <p:nvSpPr>
          <p:cNvPr id="29" name="Text 27"/>
          <p:cNvSpPr/>
          <p:nvPr/>
        </p:nvSpPr>
        <p:spPr>
          <a:xfrm>
            <a:off x="7055968" y="4434840"/>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Honest JSON: risk score + caveats</a:t>
            </a:r>
            <a:endParaRPr lang="en-US" sz="1300" dirty="0"/>
          </a:p>
        </p:txBody>
      </p:sp>
      <p:sp>
        <p:nvSpPr>
          <p:cNvPr id="30" name="Text 28"/>
          <p:cNvSpPr/>
          <p:nvPr/>
        </p:nvSpPr>
        <p:spPr>
          <a:xfrm>
            <a:off x="6507328" y="4928616"/>
            <a:ext cx="457200" cy="36576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05</a:t>
            </a:r>
            <a:endParaRPr lang="en-US" sz="1700" dirty="0"/>
          </a:p>
        </p:txBody>
      </p:sp>
      <p:sp>
        <p:nvSpPr>
          <p:cNvPr id="31" name="Text 29"/>
          <p:cNvSpPr/>
          <p:nvPr/>
        </p:nvSpPr>
        <p:spPr>
          <a:xfrm>
            <a:off x="7055968" y="4946904"/>
            <a:ext cx="4404208" cy="457200"/>
          </a:xfrm>
          <a:prstGeom prst="rect">
            <a:avLst/>
          </a:prstGeom>
          <a:noFill/>
          <a:ln/>
        </p:spPr>
        <p:txBody>
          <a:bodyPr wrap="square" rtlCol="0" anchor="t"/>
          <a:lstStyle/>
          <a:p>
            <a:pPr marL="0" indent="0">
              <a:lnSpc>
                <a:spcPct val="110000"/>
              </a:lnSpc>
              <a:buNone/>
            </a:pPr>
            <a:r>
              <a:rPr lang="en-US" sz="1300" dirty="0">
                <a:solidFill>
                  <a:srgbClr val="1A1C22"/>
                </a:solidFill>
                <a:latin typeface="Arial" pitchFamily="34" charset="0"/>
                <a:ea typeface="Arial" pitchFamily="34" charset="-122"/>
                <a:cs typeface="Arial" pitchFamily="34" charset="-120"/>
              </a:rPr>
              <a:t>Filed to Risk Register → corpus grows</a:t>
            </a:r>
            <a:endParaRPr lang="en-US" sz="1300" dirty="0"/>
          </a:p>
        </p:txBody>
      </p:sp>
      <p:sp>
        <p:nvSpPr>
          <p:cNvPr id="32" name="Shape 30"/>
          <p:cNvSpPr/>
          <p:nvPr/>
        </p:nvSpPr>
        <p:spPr>
          <a:xfrm>
            <a:off x="731520" y="5669280"/>
            <a:ext cx="10728655" cy="0"/>
          </a:xfrm>
          <a:prstGeom prst="line">
            <a:avLst/>
          </a:prstGeom>
          <a:noFill/>
          <a:ln w="12700">
            <a:solidFill>
              <a:srgbClr val="D9D8D2"/>
            </a:solidFill>
            <a:prstDash val="solid"/>
          </a:ln>
        </p:spPr>
      </p:sp>
      <p:sp>
        <p:nvSpPr>
          <p:cNvPr id="33" name="Text 31"/>
          <p:cNvSpPr/>
          <p:nvPr/>
        </p:nvSpPr>
        <p:spPr>
          <a:xfrm>
            <a:off x="731520" y="5806440"/>
            <a:ext cx="10728655" cy="365760"/>
          </a:xfrm>
          <a:prstGeom prst="rect">
            <a:avLst/>
          </a:prstGeom>
          <a:noFill/>
          <a:ln/>
        </p:spPr>
        <p:txBody>
          <a:bodyPr wrap="square" rtlCol="0" anchor="ctr"/>
          <a:lstStyle/>
          <a:p>
            <a:pPr marL="0" indent="0">
              <a:buNone/>
            </a:pPr>
            <a:r>
              <a:rPr lang="en-US" sz="1450" b="1" i="1" dirty="0">
                <a:solidFill>
                  <a:srgbClr val="1A1C22"/>
                </a:solidFill>
                <a:latin typeface="Century Schoolbook" pitchFamily="34" charset="0"/>
                <a:ea typeface="Century Schoolbook" pitchFamily="34" charset="-122"/>
                <a:cs typeface="Century Schoolbook" pitchFamily="34" charset="-120"/>
              </a:rPr>
              <a:t>Deterministic hero match + full mock fallback  </a:t>
            </a:r>
            <a:r>
              <a:rPr lang="en-US" sz="1450" i="1" dirty="0">
                <a:solidFill>
                  <a:srgbClr val="5B5E66"/>
                </a:solidFill>
                <a:latin typeface="Century Schoolbook" pitchFamily="34" charset="0"/>
                <a:ea typeface="Century Schoolbook" pitchFamily="34" charset="-122"/>
                <a:cs typeface="Century Schoolbook" pitchFamily="34" charset="-120"/>
              </a:rPr>
              <a:t>→  runs with no wifi, no tokens, no live-API risk on stage.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7955280" y="-320040"/>
            <a:ext cx="3931920" cy="3108960"/>
          </a:xfrm>
          <a:prstGeom prst="rect">
            <a:avLst/>
          </a:prstGeom>
          <a:noFill/>
          <a:ln/>
        </p:spPr>
        <p:txBody>
          <a:bodyPr wrap="square" rtlCol="0" anchor="t"/>
          <a:lstStyle/>
          <a:p>
            <a:pPr marL="0" indent="0" algn="r">
              <a:buNone/>
            </a:pPr>
            <a:r>
              <a:rPr lang="en-US" sz="23000" b="1" dirty="0">
                <a:solidFill>
                  <a:srgbClr val="EDECE7"/>
                </a:solidFill>
                <a:latin typeface="Century Schoolbook" pitchFamily="34" charset="0"/>
                <a:ea typeface="Century Schoolbook" pitchFamily="34" charset="-122"/>
                <a:cs typeface="Century Schoolbook" pitchFamily="34" charset="-120"/>
              </a:rPr>
              <a:t>10</a:t>
            </a:r>
            <a:endParaRPr lang="en-US" sz="23000" dirty="0"/>
          </a:p>
        </p:txBody>
      </p:sp>
      <p:sp>
        <p:nvSpPr>
          <p:cNvPr id="3" name="Text 1"/>
          <p:cNvSpPr/>
          <p:nvPr/>
        </p:nvSpPr>
        <p:spPr>
          <a:xfrm>
            <a:off x="731520" y="457200"/>
            <a:ext cx="7315200" cy="274320"/>
          </a:xfrm>
          <a:prstGeom prst="rect">
            <a:avLst/>
          </a:prstGeom>
          <a:noFill/>
          <a:ln/>
        </p:spPr>
        <p:txBody>
          <a:bodyPr wrap="square" rtlCol="0" anchor="ctr"/>
          <a:lstStyle/>
          <a:p>
            <a:pPr marL="0" indent="0" algn="l">
              <a:buNone/>
            </a:pPr>
            <a:r>
              <a:rPr lang="en-US" sz="1150" b="1" dirty="0">
                <a:solidFill>
                  <a:srgbClr val="B45309"/>
                </a:solidFill>
                <a:latin typeface="Courier New" pitchFamily="34" charset="0"/>
                <a:ea typeface="Courier New" pitchFamily="34" charset="-122"/>
                <a:cs typeface="Courier New" pitchFamily="34" charset="-120"/>
              </a:rPr>
              <a:t>10</a:t>
            </a:r>
            <a:r>
              <a:rPr lang="en-US" sz="1150" b="1" kern="0" spc="200" dirty="0">
                <a:solidFill>
                  <a:srgbClr val="3A3D45"/>
                </a:solidFill>
                <a:latin typeface="Courier New" pitchFamily="34" charset="0"/>
                <a:ea typeface="Courier New" pitchFamily="34" charset="-122"/>
                <a:cs typeface="Courier New" pitchFamily="34" charset="-120"/>
              </a:rPr>
              <a:t>  —  DIFFERENTIATION</a:t>
            </a:r>
            <a:endParaRPr lang="en-US" sz="1150" dirty="0"/>
          </a:p>
        </p:txBody>
      </p:sp>
      <p:sp>
        <p:nvSpPr>
          <p:cNvPr id="4" name="Text 2"/>
          <p:cNvSpPr/>
          <p:nvPr/>
        </p:nvSpPr>
        <p:spPr>
          <a:xfrm>
            <a:off x="8259775" y="457200"/>
            <a:ext cx="3200400" cy="274320"/>
          </a:xfrm>
          <a:prstGeom prst="rect">
            <a:avLst/>
          </a:prstGeom>
          <a:noFill/>
          <a:ln/>
        </p:spPr>
        <p:txBody>
          <a:bodyPr wrap="square" rtlCol="0" anchor="ctr"/>
          <a:lstStyle/>
          <a:p>
            <a:pPr marL="0" indent="0" algn="r">
              <a:buNone/>
            </a:pPr>
            <a:r>
              <a:rPr lang="en-US" sz="1050" kern="0" spc="200" dirty="0">
                <a:solidFill>
                  <a:srgbClr val="9A9CA1"/>
                </a:solidFill>
                <a:latin typeface="Courier New" pitchFamily="34" charset="0"/>
                <a:ea typeface="Courier New" pitchFamily="34" charset="-122"/>
                <a:cs typeface="Courier New" pitchFamily="34" charset="-120"/>
              </a:rPr>
              <a:t>PROJECT AEON</a:t>
            </a:r>
            <a:endParaRPr lang="en-US" sz="1050" dirty="0"/>
          </a:p>
        </p:txBody>
      </p:sp>
      <p:sp>
        <p:nvSpPr>
          <p:cNvPr id="5" name="Shape 3"/>
          <p:cNvSpPr/>
          <p:nvPr/>
        </p:nvSpPr>
        <p:spPr>
          <a:xfrm>
            <a:off x="731520" y="896112"/>
            <a:ext cx="10728655" cy="0"/>
          </a:xfrm>
          <a:prstGeom prst="line">
            <a:avLst/>
          </a:prstGeom>
          <a:noFill/>
          <a:ln w="12700">
            <a:solidFill>
              <a:srgbClr val="D9D8D2"/>
            </a:solidFill>
            <a:prstDash val="solid"/>
          </a:ln>
        </p:spPr>
      </p:sp>
      <p:sp>
        <p:nvSpPr>
          <p:cNvPr id="6" name="Text 4"/>
          <p:cNvSpPr/>
          <p:nvPr/>
        </p:nvSpPr>
        <p:spPr>
          <a:xfrm>
            <a:off x="731520" y="6419088"/>
            <a:ext cx="6400800" cy="274320"/>
          </a:xfrm>
          <a:prstGeom prst="rect">
            <a:avLst/>
          </a:prstGeom>
          <a:noFill/>
          <a:ln/>
        </p:spPr>
        <p:txBody>
          <a:bodyPr wrap="square" rtlCol="0" anchor="ctr"/>
          <a:lstStyle/>
          <a:p>
            <a:pPr marL="0" indent="0" algn="l">
              <a:buNone/>
            </a:pPr>
            <a:r>
              <a:rPr lang="en-US" sz="900" dirty="0">
                <a:solidFill>
                  <a:srgbClr val="9A9CA1"/>
                </a:solidFill>
                <a:latin typeface="Courier New" pitchFamily="34" charset="0"/>
                <a:ea typeface="Courier New" pitchFamily="34" charset="-122"/>
                <a:cs typeface="Courier New" pitchFamily="34" charset="-120"/>
              </a:rPr>
              <a:t>one architecture for every domain</a:t>
            </a:r>
            <a:endParaRPr lang="en-US" sz="900" dirty="0"/>
          </a:p>
        </p:txBody>
      </p:sp>
      <p:sp>
        <p:nvSpPr>
          <p:cNvPr id="7" name="Text 5"/>
          <p:cNvSpPr/>
          <p:nvPr/>
        </p:nvSpPr>
        <p:spPr>
          <a:xfrm>
            <a:off x="9631375" y="6419088"/>
            <a:ext cx="1828800" cy="274320"/>
          </a:xfrm>
          <a:prstGeom prst="rect">
            <a:avLst/>
          </a:prstGeom>
          <a:noFill/>
          <a:ln/>
        </p:spPr>
        <p:txBody>
          <a:bodyPr wrap="square" rtlCol="0" anchor="ctr"/>
          <a:lstStyle/>
          <a:p>
            <a:pPr marL="0" indent="0" algn="r">
              <a:buNone/>
            </a:pPr>
            <a:r>
              <a:rPr lang="en-US" sz="900" dirty="0">
                <a:solidFill>
                  <a:srgbClr val="9A9CA1"/>
                </a:solidFill>
                <a:latin typeface="Courier New" pitchFamily="34" charset="0"/>
                <a:ea typeface="Courier New" pitchFamily="34" charset="-122"/>
                <a:cs typeface="Courier New" pitchFamily="34" charset="-120"/>
              </a:rPr>
              <a:t>10  /  10</a:t>
            </a:r>
            <a:endParaRPr lang="en-US" sz="900" dirty="0"/>
          </a:p>
        </p:txBody>
      </p:sp>
      <p:sp>
        <p:nvSpPr>
          <p:cNvPr id="8" name="Text 6"/>
          <p:cNvSpPr/>
          <p:nvPr/>
        </p:nvSpPr>
        <p:spPr>
          <a:xfrm>
            <a:off x="731520" y="1143000"/>
            <a:ext cx="10241280" cy="914400"/>
          </a:xfrm>
          <a:prstGeom prst="rect">
            <a:avLst/>
          </a:prstGeom>
          <a:noFill/>
          <a:ln/>
        </p:spPr>
        <p:txBody>
          <a:bodyPr wrap="square" rtlCol="0" anchor="ctr"/>
          <a:lstStyle/>
          <a:p>
            <a:pPr marL="0" indent="0" algn="l">
              <a:lnSpc>
                <a:spcPct val="98000"/>
              </a:lnSpc>
              <a:buNone/>
            </a:pPr>
            <a:r>
              <a:rPr lang="en-US" sz="3300" b="1" dirty="0">
                <a:solidFill>
                  <a:srgbClr val="1A1C22"/>
                </a:solidFill>
                <a:latin typeface="Century Schoolbook" pitchFamily="34" charset="0"/>
                <a:ea typeface="Century Schoolbook" pitchFamily="34" charset="-122"/>
                <a:cs typeface="Century Schoolbook" pitchFamily="34" charset="-120"/>
              </a:rPr>
              <a:t>Why AEON wins — the moat is the memory.</a:t>
            </a:r>
            <a:endParaRPr lang="en-US" sz="3300" dirty="0"/>
          </a:p>
        </p:txBody>
      </p:sp>
      <p:sp>
        <p:nvSpPr>
          <p:cNvPr id="9" name="Shape 7"/>
          <p:cNvSpPr/>
          <p:nvPr/>
        </p:nvSpPr>
        <p:spPr>
          <a:xfrm>
            <a:off x="731520" y="2313432"/>
            <a:ext cx="10728655" cy="0"/>
          </a:xfrm>
          <a:prstGeom prst="line">
            <a:avLst/>
          </a:prstGeom>
          <a:noFill/>
          <a:ln w="9525">
            <a:solidFill>
              <a:srgbClr val="D9D8D2"/>
            </a:solidFill>
            <a:prstDash val="solid"/>
          </a:ln>
        </p:spPr>
      </p:sp>
      <p:sp>
        <p:nvSpPr>
          <p:cNvPr id="10" name="Text 8"/>
          <p:cNvSpPr/>
          <p:nvPr/>
        </p:nvSpPr>
        <p:spPr>
          <a:xfrm>
            <a:off x="731520" y="2514600"/>
            <a:ext cx="4952848" cy="32004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  </a:t>
            </a:r>
            <a:r>
              <a:rPr lang="en-US" sz="1700" b="1" dirty="0">
                <a:solidFill>
                  <a:srgbClr val="1A1C22"/>
                </a:solidFill>
                <a:latin typeface="Century Schoolbook" pitchFamily="34" charset="0"/>
                <a:ea typeface="Century Schoolbook" pitchFamily="34" charset="-122"/>
                <a:cs typeface="Century Schoolbook" pitchFamily="34" charset="-120"/>
              </a:rPr>
              <a:t>Memory, not summaries</a:t>
            </a:r>
            <a:endParaRPr lang="en-US" sz="1700" dirty="0"/>
          </a:p>
        </p:txBody>
      </p:sp>
      <p:sp>
        <p:nvSpPr>
          <p:cNvPr id="11" name="Text 9"/>
          <p:cNvSpPr/>
          <p:nvPr/>
        </p:nvSpPr>
        <p:spPr>
          <a:xfrm>
            <a:off x="1024128" y="2898648"/>
            <a:ext cx="4632808" cy="50292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A dual vector + graph store that persists — not a stateless log summarizer.</a:t>
            </a:r>
            <a:endParaRPr lang="en-US" sz="1200" dirty="0"/>
          </a:p>
        </p:txBody>
      </p:sp>
      <p:sp>
        <p:nvSpPr>
          <p:cNvPr id="12" name="Text 10"/>
          <p:cNvSpPr/>
          <p:nvPr/>
        </p:nvSpPr>
        <p:spPr>
          <a:xfrm>
            <a:off x="6507328" y="2514600"/>
            <a:ext cx="4952848" cy="32004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  </a:t>
            </a:r>
            <a:r>
              <a:rPr lang="en-US" sz="1700" b="1" dirty="0">
                <a:solidFill>
                  <a:srgbClr val="1A1C22"/>
                </a:solidFill>
                <a:latin typeface="Century Schoolbook" pitchFamily="34" charset="0"/>
                <a:ea typeface="Century Schoolbook" pitchFamily="34" charset="-122"/>
                <a:cs typeface="Century Schoolbook" pitchFamily="34" charset="-120"/>
              </a:rPr>
              <a:t>Cited &amp; quantified</a:t>
            </a:r>
            <a:endParaRPr lang="en-US" sz="1700" dirty="0"/>
          </a:p>
        </p:txBody>
      </p:sp>
      <p:sp>
        <p:nvSpPr>
          <p:cNvPr id="13" name="Text 11"/>
          <p:cNvSpPr/>
          <p:nvPr/>
        </p:nvSpPr>
        <p:spPr>
          <a:xfrm>
            <a:off x="6799936" y="2898648"/>
            <a:ext cx="4632808" cy="50292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Every claim traces to a record ID, dated and dollar-quantified. A chatbot can't.</a:t>
            </a:r>
            <a:endParaRPr lang="en-US" sz="1200" dirty="0"/>
          </a:p>
        </p:txBody>
      </p:sp>
      <p:sp>
        <p:nvSpPr>
          <p:cNvPr id="14" name="Shape 12"/>
          <p:cNvSpPr/>
          <p:nvPr/>
        </p:nvSpPr>
        <p:spPr>
          <a:xfrm>
            <a:off x="731520" y="3483864"/>
            <a:ext cx="10728655" cy="0"/>
          </a:xfrm>
          <a:prstGeom prst="line">
            <a:avLst/>
          </a:prstGeom>
          <a:noFill/>
          <a:ln w="9525">
            <a:solidFill>
              <a:srgbClr val="D9D8D2"/>
            </a:solidFill>
            <a:prstDash val="solid"/>
          </a:ln>
        </p:spPr>
      </p:sp>
      <p:sp>
        <p:nvSpPr>
          <p:cNvPr id="15" name="Text 13"/>
          <p:cNvSpPr/>
          <p:nvPr/>
        </p:nvSpPr>
        <p:spPr>
          <a:xfrm>
            <a:off x="731520" y="3685032"/>
            <a:ext cx="4952848" cy="32004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  </a:t>
            </a:r>
            <a:r>
              <a:rPr lang="en-US" sz="1700" b="1" dirty="0">
                <a:solidFill>
                  <a:srgbClr val="1A1C22"/>
                </a:solidFill>
                <a:latin typeface="Century Schoolbook" pitchFamily="34" charset="0"/>
                <a:ea typeface="Century Schoolbook" pitchFamily="34" charset="-122"/>
                <a:cs typeface="Century Schoolbook" pitchFamily="34" charset="-120"/>
              </a:rPr>
              <a:t>Human-in-the-loop safety</a:t>
            </a:r>
            <a:endParaRPr lang="en-US" sz="1700" dirty="0"/>
          </a:p>
        </p:txBody>
      </p:sp>
      <p:sp>
        <p:nvSpPr>
          <p:cNvPr id="16" name="Text 14"/>
          <p:cNvSpPr/>
          <p:nvPr/>
        </p:nvSpPr>
        <p:spPr>
          <a:xfrm>
            <a:off x="1024128" y="4069080"/>
            <a:ext cx="4632808" cy="50292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Issues auto-create; PRs and tickets require an explicit approve click.</a:t>
            </a:r>
            <a:endParaRPr lang="en-US" sz="1200" dirty="0"/>
          </a:p>
        </p:txBody>
      </p:sp>
      <p:sp>
        <p:nvSpPr>
          <p:cNvPr id="17" name="Text 15"/>
          <p:cNvSpPr/>
          <p:nvPr/>
        </p:nvSpPr>
        <p:spPr>
          <a:xfrm>
            <a:off x="6507328" y="3685032"/>
            <a:ext cx="4952848" cy="32004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  </a:t>
            </a:r>
            <a:r>
              <a:rPr lang="en-US" sz="1700" b="1" dirty="0">
                <a:solidFill>
                  <a:srgbClr val="1A1C22"/>
                </a:solidFill>
                <a:latin typeface="Century Schoolbook" pitchFamily="34" charset="0"/>
                <a:ea typeface="Century Schoolbook" pitchFamily="34" charset="-122"/>
                <a:cs typeface="Century Schoolbook" pitchFamily="34" charset="-120"/>
              </a:rPr>
              <a:t>Closes the loop</a:t>
            </a:r>
            <a:endParaRPr lang="en-US" sz="1700" dirty="0"/>
          </a:p>
        </p:txBody>
      </p:sp>
      <p:sp>
        <p:nvSpPr>
          <p:cNvPr id="18" name="Text 16"/>
          <p:cNvSpPr/>
          <p:nvPr/>
        </p:nvSpPr>
        <p:spPr>
          <a:xfrm>
            <a:off x="6799936" y="4069080"/>
            <a:ext cx="4632808" cy="50292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Predict → validate → file → new data → back to memory. It compounds.</a:t>
            </a:r>
            <a:endParaRPr lang="en-US" sz="1200" dirty="0"/>
          </a:p>
        </p:txBody>
      </p:sp>
      <p:sp>
        <p:nvSpPr>
          <p:cNvPr id="19" name="Shape 17"/>
          <p:cNvSpPr/>
          <p:nvPr/>
        </p:nvSpPr>
        <p:spPr>
          <a:xfrm>
            <a:off x="731520" y="4654296"/>
            <a:ext cx="10728655" cy="0"/>
          </a:xfrm>
          <a:prstGeom prst="line">
            <a:avLst/>
          </a:prstGeom>
          <a:noFill/>
          <a:ln w="9525">
            <a:solidFill>
              <a:srgbClr val="D9D8D2"/>
            </a:solidFill>
            <a:prstDash val="solid"/>
          </a:ln>
        </p:spPr>
      </p:sp>
      <p:sp>
        <p:nvSpPr>
          <p:cNvPr id="20" name="Text 18"/>
          <p:cNvSpPr/>
          <p:nvPr/>
        </p:nvSpPr>
        <p:spPr>
          <a:xfrm>
            <a:off x="731520" y="4855464"/>
            <a:ext cx="4952848" cy="320040"/>
          </a:xfrm>
          <a:prstGeom prst="rect">
            <a:avLst/>
          </a:prstGeom>
          <a:noFill/>
          <a:ln/>
        </p:spPr>
        <p:txBody>
          <a:bodyPr wrap="square" rtlCol="0" anchor="ctr"/>
          <a:lstStyle/>
          <a:p>
            <a:pPr marL="0" indent="0">
              <a:buNone/>
            </a:pPr>
            <a:r>
              <a:rPr lang="en-US" sz="1700" b="1" dirty="0">
                <a:solidFill>
                  <a:srgbClr val="B45309"/>
                </a:solidFill>
                <a:latin typeface="Century Schoolbook" pitchFamily="34" charset="0"/>
                <a:ea typeface="Century Schoolbook" pitchFamily="34" charset="-122"/>
                <a:cs typeface="Century Schoolbook" pitchFamily="34" charset="-120"/>
              </a:rPr>
              <a:t>✓  </a:t>
            </a:r>
            <a:r>
              <a:rPr lang="en-US" sz="1700" b="1" dirty="0">
                <a:solidFill>
                  <a:srgbClr val="1A1C22"/>
                </a:solidFill>
                <a:latin typeface="Century Schoolbook" pitchFamily="34" charset="0"/>
                <a:ea typeface="Century Schoolbook" pitchFamily="34" charset="-122"/>
                <a:cs typeface="Century Schoolbook" pitchFamily="34" charset="-120"/>
              </a:rPr>
              <a:t>One architecture, every domain</a:t>
            </a:r>
            <a:endParaRPr lang="en-US" sz="1700" dirty="0"/>
          </a:p>
        </p:txBody>
      </p:sp>
      <p:sp>
        <p:nvSpPr>
          <p:cNvPr id="21" name="Text 19"/>
          <p:cNvSpPr/>
          <p:nvPr/>
        </p:nvSpPr>
        <p:spPr>
          <a:xfrm>
            <a:off x="1024128" y="5239512"/>
            <a:ext cx="4632808" cy="50292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DevOps and Automotive on one core — new verticals are data, not rewrites.</a:t>
            </a:r>
            <a:endParaRPr lang="en-US" sz="1200" dirty="0"/>
          </a:p>
        </p:txBody>
      </p:sp>
      <p:sp>
        <p:nvSpPr>
          <p:cNvPr id="22" name="Text 20"/>
          <p:cNvSpPr/>
          <p:nvPr/>
        </p:nvSpPr>
        <p:spPr>
          <a:xfrm>
            <a:off x="6507328" y="4855464"/>
            <a:ext cx="4952848" cy="320040"/>
          </a:xfrm>
          <a:prstGeom prst="rect">
            <a:avLst/>
          </a:prstGeom>
          <a:noFill/>
          <a:ln/>
        </p:spPr>
        <p:txBody>
          <a:bodyPr wrap="square" rtlCol="0" anchor="ctr"/>
          <a:lstStyle/>
          <a:p>
            <a:pPr marL="0" indent="0">
              <a:buNone/>
            </a:pPr>
            <a:r>
              <a:rPr lang="en-US" sz="1700" b="1" dirty="0">
                <a:solidFill>
                  <a:srgbClr val="0F6E68"/>
                </a:solidFill>
                <a:latin typeface="Century Schoolbook" pitchFamily="34" charset="0"/>
                <a:ea typeface="Century Schoolbook" pitchFamily="34" charset="-122"/>
                <a:cs typeface="Century Schoolbook" pitchFamily="34" charset="-120"/>
              </a:rPr>
              <a:t>✓  </a:t>
            </a:r>
            <a:r>
              <a:rPr lang="en-US" sz="1700" b="1" dirty="0">
                <a:solidFill>
                  <a:srgbClr val="1A1C22"/>
                </a:solidFill>
                <a:latin typeface="Century Schoolbook" pitchFamily="34" charset="0"/>
                <a:ea typeface="Century Schoolbook" pitchFamily="34" charset="-122"/>
                <a:cs typeface="Century Schoolbook" pitchFamily="34" charset="-120"/>
              </a:rPr>
              <a:t>Demo-proof engineering</a:t>
            </a:r>
            <a:endParaRPr lang="en-US" sz="1700" dirty="0"/>
          </a:p>
        </p:txBody>
      </p:sp>
      <p:sp>
        <p:nvSpPr>
          <p:cNvPr id="23" name="Text 21"/>
          <p:cNvSpPr/>
          <p:nvPr/>
        </p:nvSpPr>
        <p:spPr>
          <a:xfrm>
            <a:off x="6799936" y="5239512"/>
            <a:ext cx="4632808" cy="502920"/>
          </a:xfrm>
          <a:prstGeom prst="rect">
            <a:avLst/>
          </a:prstGeom>
          <a:noFill/>
          <a:ln/>
        </p:spPr>
        <p:txBody>
          <a:bodyPr wrap="square" rtlCol="0" anchor="t"/>
          <a:lstStyle/>
          <a:p>
            <a:pPr marL="0" indent="0">
              <a:lnSpc>
                <a:spcPct val="118000"/>
              </a:lnSpc>
              <a:buNone/>
            </a:pPr>
            <a:r>
              <a:rPr lang="en-US" sz="1200" dirty="0">
                <a:solidFill>
                  <a:srgbClr val="5B5E66"/>
                </a:solidFill>
                <a:latin typeface="Arial" pitchFamily="34" charset="0"/>
                <a:ea typeface="Arial" pitchFamily="34" charset="-122"/>
                <a:cs typeface="Arial" pitchFamily="34" charset="-120"/>
              </a:rPr>
              <a:t>Deterministic hero + mock fallback + self-healing stores. It always lands.</a:t>
            </a:r>
            <a:endParaRPr lang="en-US" sz="1200" dirty="0"/>
          </a:p>
        </p:txBody>
      </p:sp>
      <p:sp>
        <p:nvSpPr>
          <p:cNvPr id="24" name="Shape 22"/>
          <p:cNvSpPr/>
          <p:nvPr/>
        </p:nvSpPr>
        <p:spPr>
          <a:xfrm>
            <a:off x="731520" y="5824728"/>
            <a:ext cx="10728655" cy="0"/>
          </a:xfrm>
          <a:prstGeom prst="line">
            <a:avLst/>
          </a:prstGeom>
          <a:noFill/>
          <a:ln w="9525">
            <a:solidFill>
              <a:srgbClr val="D9D8D2"/>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9"/>
        </a:solidFill>
        <a:effectLst/>
      </p:bgPr>
    </p:bg>
    <p:spTree>
      <p:nvGrpSpPr>
        <p:cNvPr id="1" name=""/>
        <p:cNvGrpSpPr/>
        <p:nvPr/>
      </p:nvGrpSpPr>
      <p:grpSpPr>
        <a:xfrm>
          <a:off x="0" y="0"/>
          <a:ext cx="0" cy="0"/>
          <a:chOff x="0" y="0"/>
          <a:chExt cx="0" cy="0"/>
        </a:xfrm>
      </p:grpSpPr>
      <p:sp>
        <p:nvSpPr>
          <p:cNvPr id="2" name="Shape 0"/>
          <p:cNvSpPr/>
          <p:nvPr/>
        </p:nvSpPr>
        <p:spPr>
          <a:xfrm>
            <a:off x="731520" y="2514600"/>
            <a:ext cx="10728655" cy="0"/>
          </a:xfrm>
          <a:prstGeom prst="line">
            <a:avLst/>
          </a:prstGeom>
          <a:noFill/>
          <a:ln w="12700">
            <a:solidFill>
              <a:srgbClr val="D9D8D2"/>
            </a:solidFill>
            <a:prstDash val="solid"/>
          </a:ln>
        </p:spPr>
      </p:sp>
      <p:sp>
        <p:nvSpPr>
          <p:cNvPr id="3" name="Text 1"/>
          <p:cNvSpPr/>
          <p:nvPr/>
        </p:nvSpPr>
        <p:spPr>
          <a:xfrm>
            <a:off x="685800" y="2743200"/>
            <a:ext cx="10972800" cy="1097280"/>
          </a:xfrm>
          <a:prstGeom prst="rect">
            <a:avLst/>
          </a:prstGeom>
          <a:noFill/>
          <a:ln/>
        </p:spPr>
        <p:txBody>
          <a:bodyPr wrap="square" rtlCol="0" anchor="ctr"/>
          <a:lstStyle/>
          <a:p>
            <a:pPr marL="0" indent="0" algn="l">
              <a:buNone/>
            </a:pPr>
            <a:r>
              <a:rPr lang="en-US" sz="7000" b="1" dirty="0">
                <a:solidFill>
                  <a:srgbClr val="1A1C22"/>
                </a:solidFill>
                <a:latin typeface="Century Schoolbook" pitchFamily="34" charset="0"/>
                <a:ea typeface="Century Schoolbook" pitchFamily="34" charset="-122"/>
                <a:cs typeface="Century Schoolbook" pitchFamily="34" charset="-120"/>
              </a:rPr>
              <a:t>Project Aeon</a:t>
            </a:r>
            <a:endParaRPr lang="en-US" sz="7000" dirty="0"/>
          </a:p>
        </p:txBody>
      </p:sp>
      <p:sp>
        <p:nvSpPr>
          <p:cNvPr id="4" name="Text 2"/>
          <p:cNvSpPr/>
          <p:nvPr/>
        </p:nvSpPr>
        <p:spPr>
          <a:xfrm>
            <a:off x="731520" y="3886200"/>
            <a:ext cx="10972800" cy="548640"/>
          </a:xfrm>
          <a:prstGeom prst="rect">
            <a:avLst/>
          </a:prstGeom>
          <a:noFill/>
          <a:ln/>
        </p:spPr>
        <p:txBody>
          <a:bodyPr wrap="square" rtlCol="0" anchor="ctr"/>
          <a:lstStyle/>
          <a:p>
            <a:pPr marL="0" indent="0" algn="l">
              <a:buNone/>
            </a:pPr>
            <a:r>
              <a:rPr lang="en-US" sz="2800" dirty="0">
                <a:solidFill>
                  <a:srgbClr val="1A1C22"/>
                </a:solidFill>
                <a:latin typeface="Century Schoolbook" pitchFamily="34" charset="0"/>
                <a:ea typeface="Century Schoolbook" pitchFamily="34" charset="-122"/>
                <a:cs typeface="Century Schoolbook" pitchFamily="34" charset="-120"/>
              </a:rPr>
              <a:t>One architecture. </a:t>
            </a:r>
            <a:r>
              <a:rPr lang="en-US" sz="2800" i="1" dirty="0">
                <a:solidFill>
                  <a:srgbClr val="B45309"/>
                </a:solidFill>
                <a:latin typeface="Century Schoolbook" pitchFamily="34" charset="0"/>
                <a:ea typeface="Century Schoolbook" pitchFamily="34" charset="-122"/>
                <a:cs typeface="Century Schoolbook" pitchFamily="34" charset="-120"/>
              </a:rPr>
              <a:t>Every domain.</a:t>
            </a:r>
            <a:endParaRPr lang="en-US" sz="2800" dirty="0"/>
          </a:p>
        </p:txBody>
      </p:sp>
      <p:sp>
        <p:nvSpPr>
          <p:cNvPr id="5" name="Text 3"/>
          <p:cNvSpPr/>
          <p:nvPr/>
        </p:nvSpPr>
        <p:spPr>
          <a:xfrm>
            <a:off x="731520" y="4617720"/>
            <a:ext cx="10058400" cy="365760"/>
          </a:xfrm>
          <a:prstGeom prst="rect">
            <a:avLst/>
          </a:prstGeom>
          <a:noFill/>
          <a:ln/>
        </p:spPr>
        <p:txBody>
          <a:bodyPr wrap="square" rtlCol="0" anchor="ctr"/>
          <a:lstStyle/>
          <a:p>
            <a:pPr marL="0" indent="0">
              <a:buNone/>
            </a:pPr>
            <a:r>
              <a:rPr lang="en-US" sz="1400" dirty="0">
                <a:solidFill>
                  <a:srgbClr val="5B5E66"/>
                </a:solidFill>
                <a:latin typeface="Arial" pitchFamily="34" charset="0"/>
                <a:ea typeface="Arial" pitchFamily="34" charset="-122"/>
                <a:cs typeface="Arial" pitchFamily="34" charset="-120"/>
              </a:rPr>
              <a:t>Failure memory as the moat — never make the same mistake twice.</a:t>
            </a:r>
            <a:endParaRPr lang="en-US" sz="1400" dirty="0"/>
          </a:p>
        </p:txBody>
      </p:sp>
      <p:sp>
        <p:nvSpPr>
          <p:cNvPr id="6" name="Shape 4"/>
          <p:cNvSpPr/>
          <p:nvPr/>
        </p:nvSpPr>
        <p:spPr>
          <a:xfrm>
            <a:off x="731520" y="5257800"/>
            <a:ext cx="10728655" cy="0"/>
          </a:xfrm>
          <a:prstGeom prst="line">
            <a:avLst/>
          </a:prstGeom>
          <a:noFill/>
          <a:ln w="12700">
            <a:solidFill>
              <a:srgbClr val="D9D8D2"/>
            </a:solidFill>
            <a:prstDash val="solid"/>
          </a:ln>
        </p:spPr>
      </p:sp>
      <p:sp>
        <p:nvSpPr>
          <p:cNvPr id="7" name="Text 5"/>
          <p:cNvSpPr/>
          <p:nvPr/>
        </p:nvSpPr>
        <p:spPr>
          <a:xfrm>
            <a:off x="731520" y="5440680"/>
            <a:ext cx="7315200" cy="274320"/>
          </a:xfrm>
          <a:prstGeom prst="rect">
            <a:avLst/>
          </a:prstGeom>
          <a:noFill/>
          <a:ln/>
        </p:spPr>
        <p:txBody>
          <a:bodyPr wrap="square" rtlCol="0" anchor="ctr"/>
          <a:lstStyle/>
          <a:p>
            <a:pPr marL="0" indent="0">
              <a:buNone/>
            </a:pPr>
            <a:r>
              <a:rPr lang="en-US" sz="1100" kern="0" spc="200" dirty="0">
                <a:solidFill>
                  <a:srgbClr val="B45309"/>
                </a:solidFill>
                <a:latin typeface="Courier New" pitchFamily="34" charset="0"/>
                <a:ea typeface="Courier New" pitchFamily="34" charset="-122"/>
                <a:cs typeface="Courier New" pitchFamily="34" charset="-120"/>
              </a:rPr>
              <a:t>●  </a:t>
            </a:r>
            <a:r>
              <a:rPr lang="en-US" sz="1100" b="1" kern="0" spc="200" dirty="0">
                <a:solidFill>
                  <a:srgbClr val="B45309"/>
                </a:solidFill>
                <a:latin typeface="Courier New" pitchFamily="34" charset="0"/>
                <a:ea typeface="Courier New" pitchFamily="34" charset="-122"/>
                <a:cs typeface="Courier New" pitchFamily="34" charset="-120"/>
              </a:rPr>
              <a:t>DEVOPS</a:t>
            </a:r>
            <a:r>
              <a:rPr lang="en-US" sz="1100" kern="0" spc="200" dirty="0">
                <a:solidFill>
                  <a:srgbClr val="0F6E68"/>
                </a:solidFill>
                <a:latin typeface="Courier New" pitchFamily="34" charset="0"/>
                <a:ea typeface="Courier New" pitchFamily="34" charset="-122"/>
                <a:cs typeface="Courier New" pitchFamily="34" charset="-120"/>
              </a:rPr>
              <a:t>      ●  </a:t>
            </a:r>
            <a:r>
              <a:rPr lang="en-US" sz="1100" b="1" kern="0" spc="200" dirty="0">
                <a:solidFill>
                  <a:srgbClr val="0F6E68"/>
                </a:solidFill>
                <a:latin typeface="Courier New" pitchFamily="34" charset="0"/>
                <a:ea typeface="Courier New" pitchFamily="34" charset="-122"/>
                <a:cs typeface="Courier New" pitchFamily="34" charset="-120"/>
              </a:rPr>
              <a:t>AUTOMOTIVE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1437</Words>
  <Application>Microsoft Office PowerPoint</Application>
  <PresentationFormat>Widescreen</PresentationFormat>
  <Paragraphs>255</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Arkajyoti Bhattacharyay</cp:lastModifiedBy>
  <cp:revision>2</cp:revision>
  <dcterms:created xsi:type="dcterms:W3CDTF">2026-07-10T01:23:38Z</dcterms:created>
  <dcterms:modified xsi:type="dcterms:W3CDTF">2026-07-10T01:32:12Z</dcterms:modified>
</cp:coreProperties>
</file>